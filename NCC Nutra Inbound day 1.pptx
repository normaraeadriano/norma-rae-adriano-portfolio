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9" r:id="rId2"/>
    <p:sldId id="260" r:id="rId3"/>
    <p:sldId id="263" r:id="rId4"/>
    <p:sldId id="283" r:id="rId5"/>
    <p:sldId id="284" r:id="rId6"/>
    <p:sldId id="265" r:id="rId7"/>
    <p:sldId id="266" r:id="rId8"/>
    <p:sldId id="285" r:id="rId9"/>
    <p:sldId id="286" r:id="rId10"/>
    <p:sldId id="270" r:id="rId11"/>
    <p:sldId id="271" r:id="rId12"/>
    <p:sldId id="287" r:id="rId13"/>
    <p:sldId id="288" r:id="rId14"/>
    <p:sldId id="273" r:id="rId15"/>
    <p:sldId id="282" r:id="rId16"/>
    <p:sldId id="274" r:id="rId17"/>
    <p:sldId id="289" r:id="rId18"/>
    <p:sldId id="290" r:id="rId19"/>
    <p:sldId id="275" r:id="rId20"/>
    <p:sldId id="276"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4B84AA-2259-4BDE-8727-80E0579EA1BD}"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BBA5CF-9061-446E-847E-03B0ED51759C}" type="slidenum">
              <a:rPr lang="en-US" smtClean="0"/>
              <a:t>‹#›</a:t>
            </a:fld>
            <a:endParaRPr lang="en-US"/>
          </a:p>
        </p:txBody>
      </p:sp>
    </p:spTree>
    <p:extLst>
      <p:ext uri="{BB962C8B-B14F-4D97-AF65-F5344CB8AC3E}">
        <p14:creationId xmlns:p14="http://schemas.microsoft.com/office/powerpoint/2010/main" val="3516810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337164-6223-4E52-B236-BDA49A2812D5}" type="slidenum">
              <a:rPr lang="en-US" smtClean="0"/>
              <a:t>21</a:t>
            </a:fld>
            <a:endParaRPr lang="en-US"/>
          </a:p>
        </p:txBody>
      </p:sp>
    </p:spTree>
    <p:extLst>
      <p:ext uri="{BB962C8B-B14F-4D97-AF65-F5344CB8AC3E}">
        <p14:creationId xmlns:p14="http://schemas.microsoft.com/office/powerpoint/2010/main" val="1893641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1678311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402234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1551588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DAC39B-7A48-4CC3-BF9A-6DB4E1AFE5DC}"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2740200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AC39B-7A48-4CC3-BF9A-6DB4E1AFE5DC}" type="datetimeFigureOut">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140603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1451903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229968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58773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DAC39B-7A48-4CC3-BF9A-6DB4E1AFE5DC}"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3364178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DAC39B-7A48-4CC3-BF9A-6DB4E1AFE5DC}" type="datetimeFigureOut">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2768593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462889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41439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2129965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31012496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71382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16831050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DAC39B-7A48-4CC3-BF9A-6DB4E1AFE5DC}" type="datetimeFigureOut">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E040A2-094D-4D73-9427-38BF66FEC1DB}" type="slidenum">
              <a:rPr lang="en-US" smtClean="0"/>
              <a:t>‹#›</a:t>
            </a:fld>
            <a:endParaRPr lang="en-US"/>
          </a:p>
        </p:txBody>
      </p:sp>
    </p:spTree>
    <p:extLst>
      <p:ext uri="{BB962C8B-B14F-4D97-AF65-F5344CB8AC3E}">
        <p14:creationId xmlns:p14="http://schemas.microsoft.com/office/powerpoint/2010/main" val="678840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9DAC39B-7A48-4CC3-BF9A-6DB4E1AFE5DC}" type="datetimeFigureOut">
              <a:rPr lang="en-US" smtClean="0"/>
              <a:t>4/15/2026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9E040A2-094D-4D73-9427-38BF66FEC1DB}" type="slidenum">
              <a:rPr lang="en-US" smtClean="0"/>
              <a:t>‹#›</a:t>
            </a:fld>
            <a:endParaRPr lang="en-US"/>
          </a:p>
        </p:txBody>
      </p:sp>
    </p:spTree>
    <p:extLst>
      <p:ext uri="{BB962C8B-B14F-4D97-AF65-F5344CB8AC3E}">
        <p14:creationId xmlns:p14="http://schemas.microsoft.com/office/powerpoint/2010/main" val="126866914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9;p1" descr="A person wearing headphones and using a computer&#10;&#10;Description automatically generated with low confidence">
            <a:extLst>
              <a:ext uri="{FF2B5EF4-FFF2-40B4-BE49-F238E27FC236}">
                <a16:creationId xmlns:a16="http://schemas.microsoft.com/office/drawing/2014/main" id="{BEAC6DE6-6957-0043-2255-A34FD4E8C337}"/>
              </a:ext>
            </a:extLst>
          </p:cNvPr>
          <p:cNvPicPr preferRelativeResize="0"/>
          <p:nvPr/>
        </p:nvPicPr>
        <p:blipFill rotWithShape="1">
          <a:blip r:embed="rId2"/>
          <a:srcRect/>
          <a:stretch>
            <a:fillRect/>
          </a:stretch>
        </p:blipFill>
        <p:spPr>
          <a:xfrm>
            <a:off x="-1" y="-1"/>
            <a:ext cx="4656853" cy="685800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TextBox 3">
            <a:extLst>
              <a:ext uri="{FF2B5EF4-FFF2-40B4-BE49-F238E27FC236}">
                <a16:creationId xmlns:a16="http://schemas.microsoft.com/office/drawing/2014/main" id="{EC9573BD-0CC9-0EAE-6302-842411ECB574}"/>
              </a:ext>
            </a:extLst>
          </p:cNvPr>
          <p:cNvSpPr txBox="1"/>
          <p:nvPr/>
        </p:nvSpPr>
        <p:spPr>
          <a:xfrm>
            <a:off x="5059680" y="295948"/>
            <a:ext cx="5986272" cy="4708981"/>
          </a:xfrm>
          <a:prstGeom prst="rect">
            <a:avLst/>
          </a:prstGeom>
          <a:noFill/>
        </p:spPr>
        <p:txBody>
          <a:bodyPr wrap="square">
            <a:spAutoFit/>
          </a:bodyPr>
          <a:lstStyle/>
          <a:p>
            <a:r>
              <a:rPr 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t>Ninja Customer Care</a:t>
            </a:r>
            <a:br>
              <a:rPr 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br>
            <a:br>
              <a:rPr 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br>
            <a:r>
              <a:rPr 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t>Customer Service</a:t>
            </a:r>
            <a:br>
              <a:rPr 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br>
            <a:r>
              <a:rPr 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t>(</a:t>
            </a:r>
            <a:r>
              <a:rPr lang="en-US" alt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t>NCC NUTRA TRAINING</a:t>
            </a:r>
            <a:r>
              <a:rPr lang="en-US" sz="5000" dirty="0">
                <a:solidFill>
                  <a:schemeClr val="tx1">
                    <a:lumMod val="65000"/>
                    <a:lumOff val="35000"/>
                  </a:schemeClr>
                </a:solidFill>
                <a:effectLst>
                  <a:outerShdw blurRad="38100" dist="38100" dir="2700000" algn="tl">
                    <a:srgbClr val="000000">
                      <a:alpha val="43137"/>
                    </a:srgbClr>
                  </a:outerShdw>
                </a:effectLst>
                <a:latin typeface="Bookman Old Style" panose="02050604050505020204" pitchFamily="18" charset="0"/>
                <a:cs typeface="Times New Roman" panose="02020603050405020304" pitchFamily="18" charset="0"/>
              </a:rPr>
              <a:t>)</a:t>
            </a:r>
            <a:endParaRPr lang="en-US" sz="5000" dirty="0"/>
          </a:p>
        </p:txBody>
      </p:sp>
      <p:cxnSp>
        <p:nvCxnSpPr>
          <p:cNvPr id="5" name="Straight Connector 4">
            <a:extLst>
              <a:ext uri="{FF2B5EF4-FFF2-40B4-BE49-F238E27FC236}">
                <a16:creationId xmlns:a16="http://schemas.microsoft.com/office/drawing/2014/main" id="{CC215069-EF82-9A09-BA52-A1076579A187}"/>
              </a:ext>
            </a:extLst>
          </p:cNvPr>
          <p:cNvCxnSpPr>
            <a:cxnSpLocks/>
          </p:cNvCxnSpPr>
          <p:nvPr/>
        </p:nvCxnSpPr>
        <p:spPr>
          <a:xfrm>
            <a:off x="5059680" y="4875746"/>
            <a:ext cx="63246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B7C9586-3B60-E3E0-3A56-EEDF2AA4FA82}"/>
              </a:ext>
            </a:extLst>
          </p:cNvPr>
          <p:cNvSpPr txBox="1"/>
          <p:nvPr/>
        </p:nvSpPr>
        <p:spPr>
          <a:xfrm>
            <a:off x="5226828" y="5004929"/>
            <a:ext cx="6096000" cy="377667"/>
          </a:xfrm>
          <a:prstGeom prst="rect">
            <a:avLst/>
          </a:prstGeom>
          <a:noFill/>
        </p:spPr>
        <p:txBody>
          <a:bodyPr wrap="square">
            <a:spAutoFit/>
          </a:bodyPr>
          <a:lstStyle/>
          <a:p>
            <a:pPr marL="0" lvl="0" indent="0" algn="l" rtl="0">
              <a:lnSpc>
                <a:spcPct val="110000"/>
              </a:lnSpc>
              <a:spcBef>
                <a:spcPts val="0"/>
              </a:spcBef>
              <a:spcAft>
                <a:spcPts val="0"/>
              </a:spcAft>
              <a:buSzPts val="2400"/>
              <a:buNone/>
            </a:pPr>
            <a:r>
              <a:rPr lang="en-US" sz="1800" dirty="0">
                <a:solidFill>
                  <a:schemeClr val="tx1">
                    <a:lumMod val="65000"/>
                    <a:lumOff val="35000"/>
                  </a:schemeClr>
                </a:solidFill>
                <a:latin typeface="Bookman Old Style" panose="02050604050505020204" pitchFamily="18" charset="0"/>
              </a:rPr>
              <a:t>TRAINING 2026 – DAY 1</a:t>
            </a:r>
          </a:p>
        </p:txBody>
      </p:sp>
    </p:spTree>
    <p:extLst>
      <p:ext uri="{BB962C8B-B14F-4D97-AF65-F5344CB8AC3E}">
        <p14:creationId xmlns:p14="http://schemas.microsoft.com/office/powerpoint/2010/main" val="85920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996748-F527-404A-3463-03B6925CCA78}"/>
              </a:ext>
            </a:extLst>
          </p:cNvPr>
          <p:cNvSpPr txBox="1"/>
          <p:nvPr/>
        </p:nvSpPr>
        <p:spPr>
          <a:xfrm>
            <a:off x="2403230" y="323948"/>
            <a:ext cx="7385539" cy="1323439"/>
          </a:xfrm>
          <a:prstGeom prst="rect">
            <a:avLst/>
          </a:prstGeom>
          <a:noFill/>
        </p:spPr>
        <p:txBody>
          <a:bodyPr wrap="square">
            <a:spAutoFit/>
          </a:bodyPr>
          <a:lstStyle/>
          <a:p>
            <a:r>
              <a:rPr lang="en-US" sz="4000" b="1" u="sng" dirty="0">
                <a:effectLst>
                  <a:outerShdw blurRad="38100" dist="38100" dir="2700000" algn="tl">
                    <a:srgbClr val="000000">
                      <a:alpha val="43137"/>
                    </a:srgbClr>
                  </a:outerShdw>
                </a:effectLst>
                <a:latin typeface="Bookman Old Style" panose="02050604050505020204" pitchFamily="18" charset="0"/>
              </a:rPr>
              <a:t>Nutra Inbound 5-Day Agent Onboarding Program</a:t>
            </a:r>
          </a:p>
        </p:txBody>
      </p:sp>
      <p:sp>
        <p:nvSpPr>
          <p:cNvPr id="5" name="TextBox 4">
            <a:extLst>
              <a:ext uri="{FF2B5EF4-FFF2-40B4-BE49-F238E27FC236}">
                <a16:creationId xmlns:a16="http://schemas.microsoft.com/office/drawing/2014/main" id="{4D980C08-EFEE-E121-0507-C24B47ABBEAF}"/>
              </a:ext>
            </a:extLst>
          </p:cNvPr>
          <p:cNvSpPr txBox="1"/>
          <p:nvPr/>
        </p:nvSpPr>
        <p:spPr>
          <a:xfrm>
            <a:off x="2403230" y="2217399"/>
            <a:ext cx="7385539" cy="3754874"/>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By the end of the 5-day training, trainees are expected to:</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Demonstrate a strong understanding of NCC processes and policies </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Apply the </a:t>
            </a:r>
            <a:r>
              <a:rPr lang="en-US" sz="2000" b="1" dirty="0">
                <a:latin typeface="Times New Roman" panose="02020603050405020304" pitchFamily="18" charset="0"/>
                <a:cs typeface="Times New Roman" panose="02020603050405020304" pitchFamily="18" charset="0"/>
              </a:rPr>
              <a:t>call engine</a:t>
            </a:r>
            <a:r>
              <a:rPr lang="en-US" sz="2000" dirty="0">
                <a:latin typeface="Times New Roman" panose="02020603050405020304" pitchFamily="18" charset="0"/>
                <a:cs typeface="Times New Roman" panose="02020603050405020304" pitchFamily="18" charset="0"/>
              </a:rPr>
              <a:t> confidently in different call scenarios </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Handle customer interactions with the correct </a:t>
            </a:r>
            <a:r>
              <a:rPr lang="en-US" sz="2000" b="1" dirty="0">
                <a:latin typeface="Times New Roman" panose="02020603050405020304" pitchFamily="18" charset="0"/>
                <a:cs typeface="Times New Roman" panose="02020603050405020304" pitchFamily="18" charset="0"/>
              </a:rPr>
              <a:t>agent mindset and communication skills</a:t>
            </a:r>
            <a:r>
              <a:rPr lang="en-US" sz="2000" dirty="0">
                <a:latin typeface="Times New Roman" panose="02020603050405020304" pitchFamily="18" charset="0"/>
                <a:cs typeface="Times New Roman" panose="02020603050405020304" pitchFamily="18" charset="0"/>
              </a:rPr>
              <a:t> </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Execute </a:t>
            </a:r>
            <a:r>
              <a:rPr lang="en-US" sz="2000" b="1" dirty="0">
                <a:latin typeface="Times New Roman" panose="02020603050405020304" pitchFamily="18" charset="0"/>
                <a:cs typeface="Times New Roman" panose="02020603050405020304" pitchFamily="18" charset="0"/>
              </a:rPr>
              <a:t>save, refund, and compliance procedures</a:t>
            </a:r>
            <a:r>
              <a:rPr lang="en-US" sz="2000" dirty="0">
                <a:latin typeface="Times New Roman" panose="02020603050405020304" pitchFamily="18" charset="0"/>
                <a:cs typeface="Times New Roman" panose="02020603050405020304" pitchFamily="18" charset="0"/>
              </a:rPr>
              <a:t> accurately </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 fully prepared to transition into </a:t>
            </a:r>
            <a:r>
              <a:rPr lang="en-US" sz="2000" b="1" dirty="0">
                <a:latin typeface="Times New Roman" panose="02020603050405020304" pitchFamily="18" charset="0"/>
                <a:cs typeface="Times New Roman" panose="02020603050405020304" pitchFamily="18" charset="0"/>
              </a:rPr>
              <a:t>nesting/production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6919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E32E-FE9B-E96B-0066-72344527C018}"/>
              </a:ext>
            </a:extLst>
          </p:cNvPr>
          <p:cNvSpPr>
            <a:spLocks noGrp="1"/>
          </p:cNvSpPr>
          <p:nvPr>
            <p:ph type="title"/>
          </p:nvPr>
        </p:nvSpPr>
        <p:spPr>
          <a:xfrm>
            <a:off x="1117983" y="2549220"/>
            <a:ext cx="6562977" cy="842682"/>
          </a:xfrm>
        </p:spPr>
        <p:txBody>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1 — AGENT MINDSET </a:t>
            </a:r>
          </a:p>
        </p:txBody>
      </p:sp>
      <p:sp>
        <p:nvSpPr>
          <p:cNvPr id="6" name="TextBox 5">
            <a:extLst>
              <a:ext uri="{FF2B5EF4-FFF2-40B4-BE49-F238E27FC236}">
                <a16:creationId xmlns:a16="http://schemas.microsoft.com/office/drawing/2014/main" id="{D4B994A7-AD11-51D9-1658-C31DA414A3BC}"/>
              </a:ext>
            </a:extLst>
          </p:cNvPr>
          <p:cNvSpPr txBox="1"/>
          <p:nvPr/>
        </p:nvSpPr>
        <p:spPr>
          <a:xfrm>
            <a:off x="1117985" y="3546960"/>
            <a:ext cx="9109262" cy="2554545"/>
          </a:xfrm>
          <a:prstGeom prst="rect">
            <a:avLst/>
          </a:prstGeom>
          <a:noFill/>
        </p:spPr>
        <p:txBody>
          <a:bodyPr wrap="square">
            <a:spAutoFit/>
          </a:bodyPr>
          <a:lstStyle/>
          <a:p>
            <a:pPr algn="just">
              <a:buNone/>
            </a:pPr>
            <a:r>
              <a:rPr lang="en-US" sz="2000" dirty="0">
                <a:latin typeface="Times New Roman" panose="02020603050405020304" pitchFamily="18" charset="0"/>
                <a:cs typeface="Times New Roman" panose="02020603050405020304" pitchFamily="18" charset="0"/>
              </a:rPr>
              <a:t>Nutra inbound is hard work. Customers call confused, frustrated, or upset — most of the time reacting to a charge they didn't fully understand or a product that didn't meet their expectations. That is not your fault. But it is your job to stabilize it. You are not here to defend the product, enforce policy, or win arguments. </a:t>
            </a:r>
          </a:p>
          <a:p>
            <a:pPr algn="just">
              <a:buNone/>
            </a:pPr>
            <a:endParaRPr lang="en-US" sz="2000" dirty="0">
              <a:latin typeface="Times New Roman" panose="02020603050405020304" pitchFamily="18" charset="0"/>
              <a:cs typeface="Times New Roman" panose="02020603050405020304" pitchFamily="18" charset="0"/>
            </a:endParaRPr>
          </a:p>
          <a:p>
            <a:pPr algn="just">
              <a:buNone/>
            </a:pPr>
            <a:r>
              <a:rPr lang="en-US" sz="2000" dirty="0">
                <a:latin typeface="Times New Roman" panose="02020603050405020304" pitchFamily="18" charset="0"/>
                <a:cs typeface="Times New Roman" panose="02020603050405020304" pitchFamily="18" charset="0"/>
              </a:rPr>
              <a:t>You are here to lower the temperature, close the loop, and prevent bigger problems. When you do that well, customers don't call back, disputes don't get filed, and the business stays healthy.</a:t>
            </a:r>
          </a:p>
        </p:txBody>
      </p:sp>
      <p:sp>
        <p:nvSpPr>
          <p:cNvPr id="11" name="TextBox 10">
            <a:extLst>
              <a:ext uri="{FF2B5EF4-FFF2-40B4-BE49-F238E27FC236}">
                <a16:creationId xmlns:a16="http://schemas.microsoft.com/office/drawing/2014/main" id="{CDF7CDC6-4E3B-9060-722C-9900FE6C4AD6}"/>
              </a:ext>
            </a:extLst>
          </p:cNvPr>
          <p:cNvSpPr txBox="1"/>
          <p:nvPr/>
        </p:nvSpPr>
        <p:spPr>
          <a:xfrm>
            <a:off x="1117983" y="670613"/>
            <a:ext cx="4241806" cy="707886"/>
          </a:xfrm>
          <a:prstGeom prst="rect">
            <a:avLst/>
          </a:prstGeom>
          <a:noFill/>
        </p:spPr>
        <p:txBody>
          <a:bodyPr wrap="square">
            <a:spAutoFit/>
          </a:bodyPr>
          <a:lstStyle/>
          <a:p>
            <a:r>
              <a:rPr lang="en-US" sz="4000" b="1" u="sng" dirty="0">
                <a:effectLst>
                  <a:outerShdw blurRad="38100" dist="38100" dir="2700000" algn="tl">
                    <a:srgbClr val="000000">
                      <a:alpha val="43137"/>
                    </a:srgbClr>
                  </a:outerShdw>
                </a:effectLst>
                <a:latin typeface="Bookman Old Style" panose="02050604050505020204" pitchFamily="18" charset="0"/>
              </a:rPr>
              <a:t>NCC Overview</a:t>
            </a:r>
            <a:endParaRPr lang="en-US" sz="4000" dirty="0"/>
          </a:p>
        </p:txBody>
      </p:sp>
      <p:sp>
        <p:nvSpPr>
          <p:cNvPr id="13" name="TextBox 12">
            <a:extLst>
              <a:ext uri="{FF2B5EF4-FFF2-40B4-BE49-F238E27FC236}">
                <a16:creationId xmlns:a16="http://schemas.microsoft.com/office/drawing/2014/main" id="{20DBD09A-E458-B055-C882-557B62FE4DB3}"/>
              </a:ext>
            </a:extLst>
          </p:cNvPr>
          <p:cNvSpPr txBox="1"/>
          <p:nvPr/>
        </p:nvSpPr>
        <p:spPr>
          <a:xfrm>
            <a:off x="1117984" y="1533557"/>
            <a:ext cx="9109261"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is not a standard call center job. NCC agents are the </a:t>
            </a:r>
            <a:r>
              <a:rPr lang="en-US" sz="2000" b="1" dirty="0">
                <a:latin typeface="Times New Roman" panose="02020603050405020304" pitchFamily="18" charset="0"/>
                <a:cs typeface="Times New Roman" panose="02020603050405020304" pitchFamily="18" charset="0"/>
              </a:rPr>
              <a:t>revenue protection layer</a:t>
            </a:r>
            <a:r>
              <a:rPr lang="en-US" sz="2000" dirty="0">
                <a:latin typeface="Times New Roman" panose="02020603050405020304" pitchFamily="18" charset="0"/>
                <a:cs typeface="Times New Roman" panose="02020603050405020304" pitchFamily="18" charset="0"/>
              </a:rPr>
              <a:t> for Nutra brands. Every call you handle either protects a customer relationship or ends it.</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7863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554A50-B158-8E24-EE03-F458F5236A58}"/>
              </a:ext>
            </a:extLst>
          </p:cNvPr>
          <p:cNvSpPr txBox="1"/>
          <p:nvPr/>
        </p:nvSpPr>
        <p:spPr>
          <a:xfrm>
            <a:off x="1236372" y="3849285"/>
            <a:ext cx="9144000" cy="677108"/>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										</a:t>
            </a:r>
          </a:p>
          <a:p>
            <a:endParaRPr lang="en-US"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37BD88D-FA1E-83C7-DDAE-9F8B48146E16}"/>
              </a:ext>
            </a:extLst>
          </p:cNvPr>
          <p:cNvSpPr txBox="1"/>
          <p:nvPr/>
        </p:nvSpPr>
        <p:spPr>
          <a:xfrm>
            <a:off x="1236372" y="652460"/>
            <a:ext cx="8203842" cy="553998"/>
          </a:xfrm>
          <a:prstGeom prst="rect">
            <a:avLst/>
          </a:prstGeom>
          <a:noFill/>
        </p:spPr>
        <p:txBody>
          <a:bodyPr wrap="square">
            <a:spAutoFit/>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1 — AGENT MINDSET </a:t>
            </a:r>
            <a:endParaRPr lang="en-US" sz="3000" dirty="0"/>
          </a:p>
        </p:txBody>
      </p:sp>
      <p:sp>
        <p:nvSpPr>
          <p:cNvPr id="7" name="TextBox 6">
            <a:extLst>
              <a:ext uri="{FF2B5EF4-FFF2-40B4-BE49-F238E27FC236}">
                <a16:creationId xmlns:a16="http://schemas.microsoft.com/office/drawing/2014/main" id="{79A1A998-57C3-D6B9-6029-0F53B34528D5}"/>
              </a:ext>
            </a:extLst>
          </p:cNvPr>
          <p:cNvSpPr txBox="1"/>
          <p:nvPr/>
        </p:nvSpPr>
        <p:spPr>
          <a:xfrm>
            <a:off x="1236372" y="1272687"/>
            <a:ext cx="3271234" cy="461665"/>
          </a:xfrm>
          <a:prstGeom prst="rect">
            <a:avLst/>
          </a:prstGeom>
          <a:noFill/>
        </p:spPr>
        <p:txBody>
          <a:bodyPr wrap="square">
            <a:spAutoFit/>
          </a:bodyPr>
          <a:lstStyle/>
          <a:p>
            <a:r>
              <a:rPr lang="en-US" sz="2400" b="1" u="sng" dirty="0">
                <a:latin typeface="Times New Roman" panose="02020603050405020304" pitchFamily="18" charset="0"/>
                <a:cs typeface="Times New Roman" panose="02020603050405020304" pitchFamily="18" charset="0"/>
              </a:rPr>
              <a:t>3 CONCEPTS:</a:t>
            </a:r>
          </a:p>
        </p:txBody>
      </p:sp>
      <p:sp>
        <p:nvSpPr>
          <p:cNvPr id="9" name="TextBox 8">
            <a:extLst>
              <a:ext uri="{FF2B5EF4-FFF2-40B4-BE49-F238E27FC236}">
                <a16:creationId xmlns:a16="http://schemas.microsoft.com/office/drawing/2014/main" id="{153DC6E6-B255-4A1C-FB0B-3FB385C97A2C}"/>
              </a:ext>
            </a:extLst>
          </p:cNvPr>
          <p:cNvSpPr txBox="1"/>
          <p:nvPr/>
        </p:nvSpPr>
        <p:spPr>
          <a:xfrm>
            <a:off x="1236372" y="1762276"/>
            <a:ext cx="167564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EVERY CALL:</a:t>
            </a:r>
          </a:p>
        </p:txBody>
      </p:sp>
      <p:sp>
        <p:nvSpPr>
          <p:cNvPr id="13" name="TextBox 12">
            <a:extLst>
              <a:ext uri="{FF2B5EF4-FFF2-40B4-BE49-F238E27FC236}">
                <a16:creationId xmlns:a16="http://schemas.microsoft.com/office/drawing/2014/main" id="{4CF3BFDD-F674-4414-F451-11EDA2242DF7}"/>
              </a:ext>
            </a:extLst>
          </p:cNvPr>
          <p:cNvSpPr txBox="1"/>
          <p:nvPr/>
        </p:nvSpPr>
        <p:spPr>
          <a:xfrm>
            <a:off x="1238519" y="2375845"/>
            <a:ext cx="9295328" cy="1015663"/>
          </a:xfrm>
          <a:prstGeom prst="rect">
            <a:avLst/>
          </a:prstGeom>
          <a:noFill/>
        </p:spPr>
        <p:txBody>
          <a:bodyPr wrap="square">
            <a:spAutoFit/>
          </a:bodyPr>
          <a:lstStyle/>
          <a:p>
            <a:pPr marL="457200" indent="-457200" algn="just">
              <a:buFont typeface="+mj-lt"/>
              <a:buAutoNum type="arabicPeriod"/>
            </a:pPr>
            <a:r>
              <a:rPr lang="en-US" sz="2000" b="1" dirty="0">
                <a:latin typeface="Times New Roman" panose="02020603050405020304" pitchFamily="18" charset="0"/>
                <a:cs typeface="Times New Roman" panose="02020603050405020304" pitchFamily="18" charset="0"/>
              </a:rPr>
              <a:t>Resolve, don't resist. Close the loop. Protect the business — and yourself</a:t>
            </a:r>
          </a:p>
          <a:p>
            <a:pPr algn="just"/>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goal of the call is resolution—not winning an argument. Focus on solving the problem in a way that protects both the customer and the business.</a:t>
            </a:r>
          </a:p>
        </p:txBody>
      </p:sp>
      <p:sp>
        <p:nvSpPr>
          <p:cNvPr id="15" name="TextBox 14">
            <a:extLst>
              <a:ext uri="{FF2B5EF4-FFF2-40B4-BE49-F238E27FC236}">
                <a16:creationId xmlns:a16="http://schemas.microsoft.com/office/drawing/2014/main" id="{377F15FC-F0EB-8307-B315-9F4569F7275C}"/>
              </a:ext>
            </a:extLst>
          </p:cNvPr>
          <p:cNvSpPr txBox="1"/>
          <p:nvPr/>
        </p:nvSpPr>
        <p:spPr>
          <a:xfrm>
            <a:off x="1365162" y="3635745"/>
            <a:ext cx="9337182"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2.	Refunds are tools, not failures</a:t>
            </a:r>
          </a:p>
          <a:p>
            <a:r>
              <a:rPr lang="en-US" sz="2000" dirty="0">
                <a:latin typeface="Times New Roman" panose="02020603050405020304" pitchFamily="18" charset="0"/>
                <a:cs typeface="Times New Roman" panose="02020603050405020304" pitchFamily="18" charset="0"/>
              </a:rPr>
              <a:t>	Refunds are tools, not failures. A 25% adjustment today can prevent a chargeback tomorrow. Chargebacks cost far more than refunds — in fees, MID health, and client relationships. Using refunds correctly and within authority is part of doing this job well.</a:t>
            </a:r>
          </a:p>
        </p:txBody>
      </p:sp>
      <p:sp>
        <p:nvSpPr>
          <p:cNvPr id="17" name="TextBox 16">
            <a:extLst>
              <a:ext uri="{FF2B5EF4-FFF2-40B4-BE49-F238E27FC236}">
                <a16:creationId xmlns:a16="http://schemas.microsoft.com/office/drawing/2014/main" id="{1E0FD923-84A4-7AC0-4D1B-DE8F1E54C42D}"/>
              </a:ext>
            </a:extLst>
          </p:cNvPr>
          <p:cNvSpPr txBox="1"/>
          <p:nvPr/>
        </p:nvSpPr>
        <p:spPr>
          <a:xfrm>
            <a:off x="1365162" y="5416961"/>
            <a:ext cx="9044190"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A refund issued correctly = good judgment. A chargeback that could have been prevented = a failure. Always ask: Is the risk of this customer going to their bank higher than the cost of this refund? If yes — resolve it now.</a:t>
            </a:r>
          </a:p>
        </p:txBody>
      </p:sp>
    </p:spTree>
    <p:extLst>
      <p:ext uri="{BB962C8B-B14F-4D97-AF65-F5344CB8AC3E}">
        <p14:creationId xmlns:p14="http://schemas.microsoft.com/office/powerpoint/2010/main" val="1868887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D5217D-E606-966F-0216-064B6182B9B9}"/>
              </a:ext>
            </a:extLst>
          </p:cNvPr>
          <p:cNvSpPr txBox="1"/>
          <p:nvPr/>
        </p:nvSpPr>
        <p:spPr>
          <a:xfrm>
            <a:off x="1387697" y="1940142"/>
            <a:ext cx="9581882" cy="163121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3.	Escalation is support, not failure</a:t>
            </a:r>
          </a:p>
          <a:p>
            <a:endParaRPr lang="en-US" sz="2000" b="1"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Escalation is support, not failure. Escalating early on a genuine risk signal prevents chargebacks and repeat calls. But escalating just to end a difficult call wastes supervisor capacity and shows up in your escalation rate KPI. Know the difference.</a:t>
            </a:r>
          </a:p>
        </p:txBody>
      </p:sp>
      <p:sp>
        <p:nvSpPr>
          <p:cNvPr id="5" name="TextBox 4">
            <a:extLst>
              <a:ext uri="{FF2B5EF4-FFF2-40B4-BE49-F238E27FC236}">
                <a16:creationId xmlns:a16="http://schemas.microsoft.com/office/drawing/2014/main" id="{E56D6EEA-3A17-CFFE-ED62-3A588327F3A7}"/>
              </a:ext>
            </a:extLst>
          </p:cNvPr>
          <p:cNvSpPr txBox="1"/>
          <p:nvPr/>
        </p:nvSpPr>
        <p:spPr>
          <a:xfrm>
            <a:off x="1387697" y="910038"/>
            <a:ext cx="7511603" cy="553998"/>
          </a:xfrm>
          <a:prstGeom prst="rect">
            <a:avLst/>
          </a:prstGeom>
          <a:noFill/>
        </p:spPr>
        <p:txBody>
          <a:bodyPr wrap="square">
            <a:spAutoFit/>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1 — AGENT MINDSET </a:t>
            </a:r>
            <a:endParaRPr lang="en-US" sz="3000" dirty="0"/>
          </a:p>
        </p:txBody>
      </p:sp>
      <p:sp>
        <p:nvSpPr>
          <p:cNvPr id="7" name="TextBox 6">
            <a:extLst>
              <a:ext uri="{FF2B5EF4-FFF2-40B4-BE49-F238E27FC236}">
                <a16:creationId xmlns:a16="http://schemas.microsoft.com/office/drawing/2014/main" id="{61615F8B-6B5A-7468-6351-2FA51607B6AA}"/>
              </a:ext>
            </a:extLst>
          </p:cNvPr>
          <p:cNvSpPr txBox="1"/>
          <p:nvPr/>
        </p:nvSpPr>
        <p:spPr>
          <a:xfrm>
            <a:off x="1387697" y="3933198"/>
            <a:ext cx="9581882"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Right escalation: customer says 'I'm calling my bank right now' → escalate immediately. Wrong escalation: customer is upset but hasn't threatened anything → handle it, save it, close it yourself. </a:t>
            </a:r>
          </a:p>
        </p:txBody>
      </p:sp>
    </p:spTree>
    <p:extLst>
      <p:ext uri="{BB962C8B-B14F-4D97-AF65-F5344CB8AC3E}">
        <p14:creationId xmlns:p14="http://schemas.microsoft.com/office/powerpoint/2010/main" val="2996394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991C-33DE-5FB9-2F41-E7BE8957C2A9}"/>
              </a:ext>
            </a:extLst>
          </p:cNvPr>
          <p:cNvSpPr>
            <a:spLocks noGrp="1"/>
          </p:cNvSpPr>
          <p:nvPr>
            <p:ph type="title"/>
          </p:nvPr>
        </p:nvSpPr>
        <p:spPr>
          <a:xfrm>
            <a:off x="971177" y="597309"/>
            <a:ext cx="10166723" cy="774291"/>
          </a:xfrm>
        </p:spPr>
        <p:txBody>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2 — YOUR KPIs AND WHAT MOVES THEM </a:t>
            </a:r>
          </a:p>
        </p:txBody>
      </p:sp>
      <p:sp>
        <p:nvSpPr>
          <p:cNvPr id="8" name="TextBox 7">
            <a:extLst>
              <a:ext uri="{FF2B5EF4-FFF2-40B4-BE49-F238E27FC236}">
                <a16:creationId xmlns:a16="http://schemas.microsoft.com/office/drawing/2014/main" id="{9ED133B4-2BCC-1C6C-2C2F-D8CEA13EF77A}"/>
              </a:ext>
            </a:extLst>
          </p:cNvPr>
          <p:cNvSpPr txBox="1"/>
          <p:nvPr/>
        </p:nvSpPr>
        <p:spPr>
          <a:xfrm>
            <a:off x="971177" y="1644889"/>
            <a:ext cx="10166723"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You are scored monthly on a 100-point scale. Your score determines your bonus tier. Every KPI maps to specific behaviors on calls — this is not abstract.</a:t>
            </a:r>
          </a:p>
        </p:txBody>
      </p:sp>
      <p:pic>
        <p:nvPicPr>
          <p:cNvPr id="7" name="Picture 6">
            <a:extLst>
              <a:ext uri="{FF2B5EF4-FFF2-40B4-BE49-F238E27FC236}">
                <a16:creationId xmlns:a16="http://schemas.microsoft.com/office/drawing/2014/main" id="{744FB48F-4D7D-16A8-D84E-9D41262ADEDA}"/>
              </a:ext>
            </a:extLst>
          </p:cNvPr>
          <p:cNvPicPr>
            <a:picLocks noChangeAspect="1"/>
          </p:cNvPicPr>
          <p:nvPr/>
        </p:nvPicPr>
        <p:blipFill>
          <a:blip r:embed="rId2"/>
          <a:stretch>
            <a:fillRect/>
          </a:stretch>
        </p:blipFill>
        <p:spPr>
          <a:xfrm>
            <a:off x="1324276" y="2457365"/>
            <a:ext cx="9460523" cy="380332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2371526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F690D-B8C9-6408-2A3A-880E6C1EA335}"/>
              </a:ext>
            </a:extLst>
          </p:cNvPr>
          <p:cNvSpPr>
            <a:spLocks noGrp="1"/>
          </p:cNvSpPr>
          <p:nvPr>
            <p:ph type="title"/>
          </p:nvPr>
        </p:nvSpPr>
        <p:spPr>
          <a:xfrm>
            <a:off x="1087622" y="399044"/>
            <a:ext cx="6823635" cy="690282"/>
          </a:xfrm>
        </p:spPr>
        <p:txBody>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2: KPIs</a:t>
            </a:r>
          </a:p>
        </p:txBody>
      </p:sp>
      <p:sp>
        <p:nvSpPr>
          <p:cNvPr id="6" name="TextBox 5">
            <a:extLst>
              <a:ext uri="{FF2B5EF4-FFF2-40B4-BE49-F238E27FC236}">
                <a16:creationId xmlns:a16="http://schemas.microsoft.com/office/drawing/2014/main" id="{EAF49A13-76F3-6C2E-D3D4-6E7F8A411E64}"/>
              </a:ext>
            </a:extLst>
          </p:cNvPr>
          <p:cNvSpPr txBox="1"/>
          <p:nvPr/>
        </p:nvSpPr>
        <p:spPr>
          <a:xfrm>
            <a:off x="1087622" y="1171619"/>
            <a:ext cx="4145977"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What actually moves each KPI</a:t>
            </a:r>
          </a:p>
        </p:txBody>
      </p:sp>
      <p:pic>
        <p:nvPicPr>
          <p:cNvPr id="8" name="Picture 7">
            <a:extLst>
              <a:ext uri="{FF2B5EF4-FFF2-40B4-BE49-F238E27FC236}">
                <a16:creationId xmlns:a16="http://schemas.microsoft.com/office/drawing/2014/main" id="{8E2B4680-0CB2-516C-BF91-5A9C4B6EBE2C}"/>
              </a:ext>
            </a:extLst>
          </p:cNvPr>
          <p:cNvPicPr>
            <a:picLocks noChangeAspect="1"/>
          </p:cNvPicPr>
          <p:nvPr/>
        </p:nvPicPr>
        <p:blipFill>
          <a:blip r:embed="rId2"/>
          <a:stretch>
            <a:fillRect/>
          </a:stretch>
        </p:blipFill>
        <p:spPr>
          <a:xfrm>
            <a:off x="1635369" y="1654022"/>
            <a:ext cx="8921262" cy="464034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44265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9B457F-7760-3CBE-6648-7506F992C3FA}"/>
              </a:ext>
            </a:extLst>
          </p:cNvPr>
          <p:cNvSpPr txBox="1"/>
          <p:nvPr/>
        </p:nvSpPr>
        <p:spPr>
          <a:xfrm>
            <a:off x="1027090" y="716854"/>
            <a:ext cx="5068910" cy="553998"/>
          </a:xfrm>
          <a:prstGeom prst="rect">
            <a:avLst/>
          </a:prstGeom>
          <a:noFill/>
        </p:spPr>
        <p:txBody>
          <a:bodyPr wrap="square">
            <a:spAutoFit/>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3: Call Engine</a:t>
            </a:r>
            <a:endParaRPr lang="en-US" sz="3000" dirty="0"/>
          </a:p>
        </p:txBody>
      </p:sp>
      <p:sp>
        <p:nvSpPr>
          <p:cNvPr id="5" name="TextBox 4">
            <a:extLst>
              <a:ext uri="{FF2B5EF4-FFF2-40B4-BE49-F238E27FC236}">
                <a16:creationId xmlns:a16="http://schemas.microsoft.com/office/drawing/2014/main" id="{E04D6177-9566-5ACD-71A5-B9D0512FB668}"/>
              </a:ext>
            </a:extLst>
          </p:cNvPr>
          <p:cNvSpPr txBox="1"/>
          <p:nvPr/>
        </p:nvSpPr>
        <p:spPr>
          <a:xfrm>
            <a:off x="1027085" y="1814417"/>
            <a:ext cx="10087378"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Every inbound Nutra call follows this sequence. Do not skip steps. Do not reorder them. The sequence is designed so that billing is addressed before you explain anything — a customer who knows future billing is stopped is a calmer customer who is more open to a reasonable resolution.</a:t>
            </a:r>
          </a:p>
        </p:txBody>
      </p:sp>
      <p:sp>
        <p:nvSpPr>
          <p:cNvPr id="7" name="TextBox 6">
            <a:extLst>
              <a:ext uri="{FF2B5EF4-FFF2-40B4-BE49-F238E27FC236}">
                <a16:creationId xmlns:a16="http://schemas.microsoft.com/office/drawing/2014/main" id="{16C59AB8-CFE6-3BE0-528A-9A2FBD4CF60F}"/>
              </a:ext>
            </a:extLst>
          </p:cNvPr>
          <p:cNvSpPr txBox="1"/>
          <p:nvPr/>
        </p:nvSpPr>
        <p:spPr>
          <a:xfrm>
            <a:off x="1027086" y="3620778"/>
            <a:ext cx="10087377"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SEQUENCE: Greet → Verify → [Continuity sub-step if needed] → Classify call type → Stop billing (billing/refund calls only) → Identify root cause → Read temperature → Choose path → Save attempt → Refund ladder if needed → Clear closure → Document.</a:t>
            </a:r>
          </a:p>
        </p:txBody>
      </p:sp>
    </p:spTree>
    <p:extLst>
      <p:ext uri="{BB962C8B-B14F-4D97-AF65-F5344CB8AC3E}">
        <p14:creationId xmlns:p14="http://schemas.microsoft.com/office/powerpoint/2010/main" val="4275658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DB4C53-16E7-F218-BD23-B72114D80D53}"/>
              </a:ext>
            </a:extLst>
          </p:cNvPr>
          <p:cNvSpPr txBox="1"/>
          <p:nvPr/>
        </p:nvSpPr>
        <p:spPr>
          <a:xfrm>
            <a:off x="826476" y="412789"/>
            <a:ext cx="2788921" cy="553998"/>
          </a:xfrm>
          <a:prstGeom prst="rect">
            <a:avLst/>
          </a:prstGeom>
          <a:noFill/>
        </p:spPr>
        <p:txBody>
          <a:bodyPr wrap="square">
            <a:spAutoFit/>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SEQUENCE: </a:t>
            </a:r>
          </a:p>
        </p:txBody>
      </p:sp>
      <p:sp>
        <p:nvSpPr>
          <p:cNvPr id="7" name="TextBox 6">
            <a:extLst>
              <a:ext uri="{FF2B5EF4-FFF2-40B4-BE49-F238E27FC236}">
                <a16:creationId xmlns:a16="http://schemas.microsoft.com/office/drawing/2014/main" id="{BD47B585-DCB8-96E4-4C77-E27AF02EF302}"/>
              </a:ext>
            </a:extLst>
          </p:cNvPr>
          <p:cNvSpPr txBox="1"/>
          <p:nvPr/>
        </p:nvSpPr>
        <p:spPr>
          <a:xfrm>
            <a:off x="826476" y="1120676"/>
            <a:ext cx="5560256" cy="532453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1.Opening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Opening A — Neutral / calm caller (most calls)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Opening B — Pre-escalated caller (already hot when they connect)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2.Verify → [Continuity sub-step if needed]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zip code and first and last name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Complete shipping address</a:t>
            </a:r>
          </a:p>
          <a:p>
            <a:r>
              <a:rPr lang="en-US" sz="2000" dirty="0">
                <a:latin typeface="Times New Roman" panose="02020603050405020304" pitchFamily="18" charset="0"/>
                <a:cs typeface="Times New Roman" panose="02020603050405020304" pitchFamily="18" charset="0"/>
              </a:rPr>
              <a:t>Classify call type </a:t>
            </a:r>
          </a:p>
          <a:p>
            <a:endParaRPr lang="en-US" sz="2000" dirty="0">
              <a:latin typeface="Times New Roman" panose="02020603050405020304" pitchFamily="18" charset="0"/>
              <a:cs typeface="Times New Roman" panose="02020603050405020304" pitchFamily="18" charset="0"/>
            </a:endParaRPr>
          </a:p>
          <a:p>
            <a:pPr marL="457200" indent="-457200">
              <a:buFont typeface="+mj-lt"/>
              <a:buAutoNum type="alphaLcParenR"/>
            </a:pPr>
            <a:r>
              <a:rPr lang="en-US" sz="2000" dirty="0">
                <a:latin typeface="Times New Roman" panose="02020603050405020304" pitchFamily="18" charset="0"/>
                <a:cs typeface="Times New Roman" panose="02020603050405020304" pitchFamily="18" charset="0"/>
              </a:rPr>
              <a:t>General question / tracking</a:t>
            </a:r>
          </a:p>
          <a:p>
            <a:pPr marL="457200" indent="-457200">
              <a:buFont typeface="+mj-lt"/>
              <a:buAutoNum type="alphaLcParenR"/>
            </a:pPr>
            <a:r>
              <a:rPr lang="en-US" sz="2000" dirty="0">
                <a:latin typeface="Times New Roman" panose="02020603050405020304" pitchFamily="18" charset="0"/>
                <a:cs typeface="Times New Roman" panose="02020603050405020304" pitchFamily="18" charset="0"/>
              </a:rPr>
              <a:t>Cancellation</a:t>
            </a:r>
          </a:p>
          <a:p>
            <a:pPr marL="457200" indent="-457200">
              <a:buFont typeface="+mj-lt"/>
              <a:buAutoNum type="alphaLcParenR"/>
            </a:pPr>
            <a:r>
              <a:rPr lang="en-US" sz="2000" dirty="0">
                <a:latin typeface="Times New Roman" panose="02020603050405020304" pitchFamily="18" charset="0"/>
                <a:cs typeface="Times New Roman" panose="02020603050405020304" pitchFamily="18" charset="0"/>
              </a:rPr>
              <a:t>Subscription confusion</a:t>
            </a:r>
          </a:p>
          <a:p>
            <a:pPr marL="457200" indent="-457200">
              <a:buFont typeface="+mj-lt"/>
              <a:buAutoNum type="alphaLcParenR"/>
            </a:pPr>
            <a:r>
              <a:rPr lang="en-US" sz="2000" dirty="0">
                <a:latin typeface="Times New Roman" panose="02020603050405020304" pitchFamily="18" charset="0"/>
                <a:cs typeface="Times New Roman" panose="02020603050405020304" pitchFamily="18" charset="0"/>
              </a:rPr>
              <a:t>Refund request</a:t>
            </a:r>
          </a:p>
          <a:p>
            <a:pPr marL="457200" indent="-457200">
              <a:buFont typeface="+mj-lt"/>
              <a:buAutoNum type="alphaLcParenR"/>
            </a:pPr>
            <a:r>
              <a:rPr lang="en-US" sz="2000" dirty="0">
                <a:latin typeface="Times New Roman" panose="02020603050405020304" pitchFamily="18" charset="0"/>
                <a:cs typeface="Times New Roman" panose="02020603050405020304" pitchFamily="18" charset="0"/>
              </a:rPr>
              <a:t>Threat / escalation</a:t>
            </a:r>
          </a:p>
          <a:p>
            <a:pPr marL="457200" indent="-457200">
              <a:buFont typeface="+mj-lt"/>
              <a:buAutoNum type="alphaLcParenR"/>
            </a:pPr>
            <a:r>
              <a:rPr lang="en-US" sz="2000" dirty="0">
                <a:latin typeface="Times New Roman" panose="02020603050405020304" pitchFamily="18" charset="0"/>
                <a:cs typeface="Times New Roman" panose="02020603050405020304" pitchFamily="18" charset="0"/>
              </a:rPr>
              <a:t>Dispute already filed</a:t>
            </a:r>
          </a:p>
          <a:p>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CD288AA-455C-757A-1066-3055B3F7F715}"/>
              </a:ext>
            </a:extLst>
          </p:cNvPr>
          <p:cNvSpPr txBox="1"/>
          <p:nvPr/>
        </p:nvSpPr>
        <p:spPr>
          <a:xfrm>
            <a:off x="7185074" y="1120676"/>
            <a:ext cx="3886200" cy="4093428"/>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3.Stop billing (billing/refund calls only)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4.Identify root cause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5.Read temperature -Choose path </a:t>
            </a:r>
          </a:p>
          <a:p>
            <a:r>
              <a:rPr lang="en-US" sz="2000" dirty="0">
                <a:latin typeface="Times New Roman" panose="02020603050405020304" pitchFamily="18" charset="0"/>
                <a:cs typeface="Times New Roman" panose="02020603050405020304" pitchFamily="18" charset="0"/>
              </a:rPr>
              <a:t>-Green - Path A</a:t>
            </a:r>
          </a:p>
          <a:p>
            <a:r>
              <a:rPr lang="en-US" sz="2000" dirty="0">
                <a:latin typeface="Times New Roman" panose="02020603050405020304" pitchFamily="18" charset="0"/>
                <a:cs typeface="Times New Roman" panose="02020603050405020304" pitchFamily="18" charset="0"/>
              </a:rPr>
              <a:t>-Amber - Path B</a:t>
            </a:r>
          </a:p>
          <a:p>
            <a:r>
              <a:rPr lang="en-US" sz="2000" dirty="0">
                <a:latin typeface="Times New Roman" panose="02020603050405020304" pitchFamily="18" charset="0"/>
                <a:cs typeface="Times New Roman" panose="02020603050405020304" pitchFamily="18" charset="0"/>
              </a:rPr>
              <a:t>-Red - Path C</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6.Clear closure (Recap)</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7.Document.</a:t>
            </a:r>
          </a:p>
        </p:txBody>
      </p:sp>
    </p:spTree>
    <p:extLst>
      <p:ext uri="{BB962C8B-B14F-4D97-AF65-F5344CB8AC3E}">
        <p14:creationId xmlns:p14="http://schemas.microsoft.com/office/powerpoint/2010/main" val="3536764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E58E88-8939-F5FA-F20F-F91403761ECB}"/>
              </a:ext>
            </a:extLst>
          </p:cNvPr>
          <p:cNvSpPr>
            <a:spLocks noGrp="1"/>
          </p:cNvSpPr>
          <p:nvPr>
            <p:ph type="title"/>
          </p:nvPr>
        </p:nvSpPr>
        <p:spPr>
          <a:xfrm>
            <a:off x="1030982" y="474248"/>
            <a:ext cx="6463027" cy="818063"/>
          </a:xfrm>
        </p:spPr>
        <p:txBody>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3: Call Engine</a:t>
            </a:r>
            <a:endParaRPr lang="en-US" sz="3000" dirty="0"/>
          </a:p>
        </p:txBody>
      </p:sp>
      <p:sp>
        <p:nvSpPr>
          <p:cNvPr id="14" name="TextBox 13">
            <a:extLst>
              <a:ext uri="{FF2B5EF4-FFF2-40B4-BE49-F238E27FC236}">
                <a16:creationId xmlns:a16="http://schemas.microsoft.com/office/drawing/2014/main" id="{9EE62459-D179-99A3-56C8-203DE05F37A4}"/>
              </a:ext>
            </a:extLst>
          </p:cNvPr>
          <p:cNvSpPr txBox="1"/>
          <p:nvPr/>
        </p:nvSpPr>
        <p:spPr>
          <a:xfrm>
            <a:off x="1030982" y="1292311"/>
            <a:ext cx="2691012"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Step 1 — Opening</a:t>
            </a:r>
          </a:p>
        </p:txBody>
      </p:sp>
      <p:sp>
        <p:nvSpPr>
          <p:cNvPr id="3" name="TextBox 2">
            <a:extLst>
              <a:ext uri="{FF2B5EF4-FFF2-40B4-BE49-F238E27FC236}">
                <a16:creationId xmlns:a16="http://schemas.microsoft.com/office/drawing/2014/main" id="{5C7D19E6-9D7F-60A1-F52C-B259726A2AEA}"/>
              </a:ext>
            </a:extLst>
          </p:cNvPr>
          <p:cNvSpPr txBox="1"/>
          <p:nvPr/>
        </p:nvSpPr>
        <p:spPr>
          <a:xfrm>
            <a:off x="1030981" y="1753976"/>
            <a:ext cx="10130036"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Two opening paths. Use the correct one within the first 3 seconds based on what you hear when the call connects.</a:t>
            </a:r>
          </a:p>
        </p:txBody>
      </p:sp>
      <p:sp>
        <p:nvSpPr>
          <p:cNvPr id="5" name="TextBox 4">
            <a:extLst>
              <a:ext uri="{FF2B5EF4-FFF2-40B4-BE49-F238E27FC236}">
                <a16:creationId xmlns:a16="http://schemas.microsoft.com/office/drawing/2014/main" id="{D4E53D6F-8183-2D87-315E-ED2E0F180ED8}"/>
              </a:ext>
            </a:extLst>
          </p:cNvPr>
          <p:cNvSpPr txBox="1"/>
          <p:nvPr/>
        </p:nvSpPr>
        <p:spPr>
          <a:xfrm>
            <a:off x="1030980" y="2753883"/>
            <a:ext cx="6098146" cy="400110"/>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Opening A — Neutral / calm caller (most calls)</a:t>
            </a:r>
          </a:p>
        </p:txBody>
      </p:sp>
      <p:sp>
        <p:nvSpPr>
          <p:cNvPr id="7" name="TextBox 6">
            <a:extLst>
              <a:ext uri="{FF2B5EF4-FFF2-40B4-BE49-F238E27FC236}">
                <a16:creationId xmlns:a16="http://schemas.microsoft.com/office/drawing/2014/main" id="{366848C5-0E44-3622-23D2-31F65125B9A0}"/>
              </a:ext>
            </a:extLst>
          </p:cNvPr>
          <p:cNvSpPr txBox="1"/>
          <p:nvPr/>
        </p:nvSpPr>
        <p:spPr>
          <a:xfrm>
            <a:off x="1030980" y="3143887"/>
            <a:ext cx="10130035" cy="400110"/>
          </a:xfrm>
          <a:prstGeom prst="rect">
            <a:avLst/>
          </a:prstGeom>
          <a:noFill/>
        </p:spPr>
        <p:txBody>
          <a:bodyPr wrap="square">
            <a:spAutoFit/>
          </a:bodyPr>
          <a:lstStyle/>
          <a:p>
            <a:pPr marL="742950" lvl="1"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Standard greeting. Caller is quiet, waiting for you, no immediate hostility.</a:t>
            </a:r>
          </a:p>
        </p:txBody>
      </p:sp>
      <p:sp>
        <p:nvSpPr>
          <p:cNvPr id="9" name="TextBox 8">
            <a:extLst>
              <a:ext uri="{FF2B5EF4-FFF2-40B4-BE49-F238E27FC236}">
                <a16:creationId xmlns:a16="http://schemas.microsoft.com/office/drawing/2014/main" id="{6ED2E95A-B836-2781-0E32-73BED36A9E12}"/>
              </a:ext>
            </a:extLst>
          </p:cNvPr>
          <p:cNvSpPr txBox="1"/>
          <p:nvPr/>
        </p:nvSpPr>
        <p:spPr>
          <a:xfrm>
            <a:off x="1030980" y="4153900"/>
            <a:ext cx="10130034" cy="40011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solidFill>
                  <a:schemeClr val="bg1"/>
                </a:solidFill>
                <a:latin typeface="Times New Roman" panose="02020603050405020304" pitchFamily="18" charset="0"/>
                <a:cs typeface="Times New Roman" panose="02020603050405020304" pitchFamily="18" charset="0"/>
              </a:rPr>
              <a:t>“Thank you for calling [Brand] support, this is [Agent name]. How can I help you today?”</a:t>
            </a:r>
          </a:p>
        </p:txBody>
      </p:sp>
      <p:sp>
        <p:nvSpPr>
          <p:cNvPr id="11" name="TextBox 10">
            <a:extLst>
              <a:ext uri="{FF2B5EF4-FFF2-40B4-BE49-F238E27FC236}">
                <a16:creationId xmlns:a16="http://schemas.microsoft.com/office/drawing/2014/main" id="{EEA31015-A3D5-67A5-289D-8B67E65A20BA}"/>
              </a:ext>
            </a:extLst>
          </p:cNvPr>
          <p:cNvSpPr txBox="1"/>
          <p:nvPr/>
        </p:nvSpPr>
        <p:spPr>
          <a:xfrm>
            <a:off x="1030980" y="5163913"/>
            <a:ext cx="10130034" cy="707886"/>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Do not say the product name before verifying. Do not say 'I see you have a problem.' Open neutral. Let them tell you.</a:t>
            </a:r>
          </a:p>
        </p:txBody>
      </p:sp>
      <p:sp>
        <p:nvSpPr>
          <p:cNvPr id="4" name="TextBox 3">
            <a:extLst>
              <a:ext uri="{FF2B5EF4-FFF2-40B4-BE49-F238E27FC236}">
                <a16:creationId xmlns:a16="http://schemas.microsoft.com/office/drawing/2014/main" id="{8FCC84B2-6547-B248-DF9A-8ACF3152B731}"/>
              </a:ext>
            </a:extLst>
          </p:cNvPr>
          <p:cNvSpPr txBox="1"/>
          <p:nvPr/>
        </p:nvSpPr>
        <p:spPr>
          <a:xfrm>
            <a:off x="1030980" y="3630461"/>
            <a:ext cx="1067451"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AGENT: </a:t>
            </a:r>
          </a:p>
        </p:txBody>
      </p:sp>
    </p:spTree>
    <p:extLst>
      <p:ext uri="{BB962C8B-B14F-4D97-AF65-F5344CB8AC3E}">
        <p14:creationId xmlns:p14="http://schemas.microsoft.com/office/powerpoint/2010/main" val="2251939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1E26C83-CD87-B01D-0833-46B7402F5029}"/>
              </a:ext>
            </a:extLst>
          </p:cNvPr>
          <p:cNvSpPr/>
          <p:nvPr/>
        </p:nvSpPr>
        <p:spPr>
          <a:xfrm>
            <a:off x="1091481" y="5488232"/>
            <a:ext cx="10009034" cy="76168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DE271D67-F914-DD38-49DF-8BF9B828B165}"/>
              </a:ext>
            </a:extLst>
          </p:cNvPr>
          <p:cNvSpPr/>
          <p:nvPr/>
        </p:nvSpPr>
        <p:spPr>
          <a:xfrm>
            <a:off x="1091482" y="4013866"/>
            <a:ext cx="10009034" cy="74697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17695761-0C86-93E8-63AC-43688DEF38DA}"/>
              </a:ext>
            </a:extLst>
          </p:cNvPr>
          <p:cNvSpPr txBox="1"/>
          <p:nvPr/>
        </p:nvSpPr>
        <p:spPr>
          <a:xfrm>
            <a:off x="1091484" y="3079820"/>
            <a:ext cx="10009033" cy="317009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[Let them speak first if they are already talking. Do not interrupt.] [When there is a natural break:] </a:t>
            </a:r>
          </a:p>
          <a:p>
            <a:endParaRPr lang="en-US" sz="2000" dirty="0">
              <a:latin typeface="Times New Roman" panose="02020603050405020304" pitchFamily="18" charset="0"/>
              <a:cs typeface="Times New Roman" panose="02020603050405020304" pitchFamily="18" charset="0"/>
            </a:endParaRPr>
          </a:p>
          <a:p>
            <a:r>
              <a:rPr lang="en-US" sz="2000" b="1" i="1" dirty="0">
                <a:solidFill>
                  <a:schemeClr val="bg1"/>
                </a:solidFill>
                <a:latin typeface="Times New Roman" panose="02020603050405020304" pitchFamily="18" charset="0"/>
                <a:cs typeface="Times New Roman" panose="02020603050405020304" pitchFamily="18" charset="0"/>
              </a:rPr>
              <a:t>“I hear you — and I am glad you called. Let me take a look at your account right now and make sure we get this sorted out.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[If they do not pause:] </a:t>
            </a:r>
          </a:p>
          <a:p>
            <a:endParaRPr lang="en-US" sz="2000" dirty="0">
              <a:latin typeface="Times New Roman" panose="02020603050405020304" pitchFamily="18" charset="0"/>
              <a:cs typeface="Times New Roman" panose="02020603050405020304" pitchFamily="18" charset="0"/>
            </a:endParaRPr>
          </a:p>
          <a:p>
            <a:r>
              <a:rPr lang="en-US" sz="2000" b="1" i="1" dirty="0">
                <a:solidFill>
                  <a:schemeClr val="bg1"/>
                </a:solidFill>
                <a:latin typeface="Times New Roman" panose="02020603050405020304" pitchFamily="18" charset="0"/>
                <a:cs typeface="Times New Roman" panose="02020603050405020304" pitchFamily="18" charset="0"/>
              </a:rPr>
              <a:t>“I completely hear you. Can I get your name so I can pull up your account and get this resolved?”</a:t>
            </a:r>
          </a:p>
        </p:txBody>
      </p:sp>
      <p:sp>
        <p:nvSpPr>
          <p:cNvPr id="4" name="TextBox 3">
            <a:extLst>
              <a:ext uri="{FF2B5EF4-FFF2-40B4-BE49-F238E27FC236}">
                <a16:creationId xmlns:a16="http://schemas.microsoft.com/office/drawing/2014/main" id="{35E179D3-557E-B635-6B5F-4E4EDDD93412}"/>
              </a:ext>
            </a:extLst>
          </p:cNvPr>
          <p:cNvSpPr txBox="1"/>
          <p:nvPr/>
        </p:nvSpPr>
        <p:spPr>
          <a:xfrm>
            <a:off x="1091483" y="1518514"/>
            <a:ext cx="8954037" cy="400110"/>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Opening B — Pre-escalated caller (already hot when they connect)</a:t>
            </a:r>
          </a:p>
        </p:txBody>
      </p:sp>
      <p:sp>
        <p:nvSpPr>
          <p:cNvPr id="7" name="TextBox 6">
            <a:extLst>
              <a:ext uri="{FF2B5EF4-FFF2-40B4-BE49-F238E27FC236}">
                <a16:creationId xmlns:a16="http://schemas.microsoft.com/office/drawing/2014/main" id="{F556F98C-6CD9-98D0-1037-D5717997CE58}"/>
              </a:ext>
            </a:extLst>
          </p:cNvPr>
          <p:cNvSpPr txBox="1"/>
          <p:nvPr/>
        </p:nvSpPr>
        <p:spPr>
          <a:xfrm>
            <a:off x="1091484" y="691098"/>
            <a:ext cx="4794161" cy="553998"/>
          </a:xfrm>
          <a:prstGeom prst="rect">
            <a:avLst/>
          </a:prstGeom>
          <a:noFill/>
        </p:spPr>
        <p:txBody>
          <a:bodyPr wrap="square">
            <a:spAutoFit/>
          </a:bodyPr>
          <a:lstStyle/>
          <a:p>
            <a:r>
              <a:rPr lang="en-US" sz="3000" b="1" u="sng" dirty="0">
                <a:effectLst>
                  <a:outerShdw blurRad="38100" dist="38100" dir="2700000" algn="tl">
                    <a:srgbClr val="000000">
                      <a:alpha val="43137"/>
                    </a:srgbClr>
                  </a:outerShdw>
                </a:effectLst>
                <a:latin typeface="Bookman Old Style" panose="02050604050505020204" pitchFamily="18" charset="0"/>
              </a:rPr>
              <a:t>Section 3: Call Engine</a:t>
            </a:r>
            <a:endParaRPr lang="en-US" sz="3000" dirty="0"/>
          </a:p>
        </p:txBody>
      </p:sp>
      <p:sp>
        <p:nvSpPr>
          <p:cNvPr id="9" name="TextBox 8">
            <a:extLst>
              <a:ext uri="{FF2B5EF4-FFF2-40B4-BE49-F238E27FC236}">
                <a16:creationId xmlns:a16="http://schemas.microsoft.com/office/drawing/2014/main" id="{0F7C0799-B403-20DC-22F8-62237958E1C0}"/>
              </a:ext>
            </a:extLst>
          </p:cNvPr>
          <p:cNvSpPr txBox="1"/>
          <p:nvPr/>
        </p:nvSpPr>
        <p:spPr>
          <a:xfrm>
            <a:off x="1091483" y="1918624"/>
            <a:ext cx="10009034" cy="1015663"/>
          </a:xfrm>
          <a:prstGeom prst="rect">
            <a:avLst/>
          </a:prstGeom>
          <a:noFill/>
        </p:spPr>
        <p:txBody>
          <a:bodyPr wrap="square">
            <a:spAutoFit/>
          </a:bodyPr>
          <a:lstStyle/>
          <a:p>
            <a:pPr marL="800100" lvl="1"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Caller connects mid-complaint, raises their voice immediately, or opens with a threat or demand. You can hear it in the first second. Do not use the standard greeting — it reads as tone-deaf and the call escalates faster.</a:t>
            </a:r>
          </a:p>
        </p:txBody>
      </p:sp>
    </p:spTree>
    <p:extLst>
      <p:ext uri="{BB962C8B-B14F-4D97-AF65-F5344CB8AC3E}">
        <p14:creationId xmlns:p14="http://schemas.microsoft.com/office/powerpoint/2010/main" val="3518315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282409-2FA7-26F3-D1D5-188420968C20}"/>
              </a:ext>
            </a:extLst>
          </p:cNvPr>
          <p:cNvPicPr>
            <a:picLocks noChangeAspect="1"/>
          </p:cNvPicPr>
          <p:nvPr/>
        </p:nvPicPr>
        <p:blipFill>
          <a:blip r:embed="rId2"/>
          <a:stretch>
            <a:fillRect/>
          </a:stretch>
        </p:blipFill>
        <p:spPr>
          <a:xfrm>
            <a:off x="1845724" y="2100161"/>
            <a:ext cx="8500552" cy="383249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7" name="TextBox 6">
            <a:extLst>
              <a:ext uri="{FF2B5EF4-FFF2-40B4-BE49-F238E27FC236}">
                <a16:creationId xmlns:a16="http://schemas.microsoft.com/office/drawing/2014/main" id="{5567820D-8BC7-D6E9-8A45-FAE2D51CFD5C}"/>
              </a:ext>
            </a:extLst>
          </p:cNvPr>
          <p:cNvSpPr txBox="1"/>
          <p:nvPr/>
        </p:nvSpPr>
        <p:spPr>
          <a:xfrm>
            <a:off x="1182710" y="487997"/>
            <a:ext cx="9262056" cy="13234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HOT-OPEN RULE: Your first job on a hot-open call is not to solve the problem. It is to be the first person today who listened without arguing. When the customer feels heard, their temperature drops 2–3 points automatically. That drop is what makes everything else possible.</a:t>
            </a:r>
          </a:p>
        </p:txBody>
      </p:sp>
    </p:spTree>
    <p:extLst>
      <p:ext uri="{BB962C8B-B14F-4D97-AF65-F5344CB8AC3E}">
        <p14:creationId xmlns:p14="http://schemas.microsoft.com/office/powerpoint/2010/main" val="3496562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51BF48-238E-C616-EE49-AB69CF919A5C}"/>
              </a:ext>
            </a:extLst>
          </p:cNvPr>
          <p:cNvSpPr txBox="1"/>
          <p:nvPr/>
        </p:nvSpPr>
        <p:spPr>
          <a:xfrm>
            <a:off x="1284667" y="889144"/>
            <a:ext cx="3570668" cy="483017"/>
          </a:xfrm>
          <a:prstGeom prst="rect">
            <a:avLst/>
          </a:prstGeom>
          <a:noFill/>
        </p:spPr>
        <p:txBody>
          <a:bodyPr wrap="square">
            <a:spAutoFit/>
          </a:bodyPr>
          <a:lstStyle/>
          <a:p>
            <a:pPr marL="0" marR="0">
              <a:lnSpc>
                <a:spcPct val="115000"/>
              </a:lnSpc>
              <a:spcAft>
                <a:spcPts val="800"/>
              </a:spcAft>
              <a:buNone/>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Step 2 — Verification</a:t>
            </a:r>
          </a:p>
        </p:txBody>
      </p:sp>
      <p:sp>
        <p:nvSpPr>
          <p:cNvPr id="5" name="TextBox 4">
            <a:extLst>
              <a:ext uri="{FF2B5EF4-FFF2-40B4-BE49-F238E27FC236}">
                <a16:creationId xmlns:a16="http://schemas.microsoft.com/office/drawing/2014/main" id="{8144D5A1-3481-C253-9044-41B18B453766}"/>
              </a:ext>
            </a:extLst>
          </p:cNvPr>
          <p:cNvSpPr txBox="1"/>
          <p:nvPr/>
        </p:nvSpPr>
        <p:spPr>
          <a:xfrm>
            <a:off x="1284665" y="2367819"/>
            <a:ext cx="9108584" cy="70788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“Before I pull up your account, can I confirm your name and ZIP code? ... Perfect, I can see your order. How can I help?”</a:t>
            </a:r>
          </a:p>
        </p:txBody>
      </p:sp>
      <p:sp>
        <p:nvSpPr>
          <p:cNvPr id="7" name="TextBox 6">
            <a:extLst>
              <a:ext uri="{FF2B5EF4-FFF2-40B4-BE49-F238E27FC236}">
                <a16:creationId xmlns:a16="http://schemas.microsoft.com/office/drawing/2014/main" id="{2B48DBAC-CF70-6DC7-6CD5-E4844C880E3B}"/>
              </a:ext>
            </a:extLst>
          </p:cNvPr>
          <p:cNvSpPr txBox="1"/>
          <p:nvPr/>
        </p:nvSpPr>
        <p:spPr>
          <a:xfrm>
            <a:off x="1284666" y="3901840"/>
            <a:ext cx="9108583" cy="70788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Dialpad AI listens for: verify, confirm, date of birth, last four, address. Use at least one — it scores your verification checkpoint.</a:t>
            </a:r>
          </a:p>
        </p:txBody>
      </p:sp>
      <p:sp>
        <p:nvSpPr>
          <p:cNvPr id="9" name="TextBox 8">
            <a:extLst>
              <a:ext uri="{FF2B5EF4-FFF2-40B4-BE49-F238E27FC236}">
                <a16:creationId xmlns:a16="http://schemas.microsoft.com/office/drawing/2014/main" id="{A45C0859-0137-8A78-3296-9B6487F312AC}"/>
              </a:ext>
            </a:extLst>
          </p:cNvPr>
          <p:cNvSpPr txBox="1"/>
          <p:nvPr/>
        </p:nvSpPr>
        <p:spPr>
          <a:xfrm>
            <a:off x="1284666" y="1669935"/>
            <a:ext cx="1342624"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AGENT:  </a:t>
            </a:r>
          </a:p>
        </p:txBody>
      </p:sp>
    </p:spTree>
    <p:extLst>
      <p:ext uri="{BB962C8B-B14F-4D97-AF65-F5344CB8AC3E}">
        <p14:creationId xmlns:p14="http://schemas.microsoft.com/office/powerpoint/2010/main" val="2088191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78D8FB-3A42-F8D1-9EB0-FDECFF2BE354}"/>
              </a:ext>
            </a:extLst>
          </p:cNvPr>
          <p:cNvSpPr txBox="1"/>
          <p:nvPr/>
        </p:nvSpPr>
        <p:spPr>
          <a:xfrm>
            <a:off x="1645275" y="1095301"/>
            <a:ext cx="7150994"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Step 2b — Subscription and continuity call protocol </a:t>
            </a:r>
          </a:p>
        </p:txBody>
      </p:sp>
      <p:sp>
        <p:nvSpPr>
          <p:cNvPr id="6" name="TextBox 5">
            <a:extLst>
              <a:ext uri="{FF2B5EF4-FFF2-40B4-BE49-F238E27FC236}">
                <a16:creationId xmlns:a16="http://schemas.microsoft.com/office/drawing/2014/main" id="{F2C22624-5FA0-95E3-A8A0-B939E90F4F12}"/>
              </a:ext>
            </a:extLst>
          </p:cNvPr>
          <p:cNvSpPr txBox="1"/>
          <p:nvPr/>
        </p:nvSpPr>
        <p:spPr>
          <a:xfrm>
            <a:off x="1645275" y="2105561"/>
            <a:ext cx="871220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When you hear continuity-related language — rebill, subscription, auto-ship, recurring charge — this sub-step activates. Continuity calls are the second-highest volume call type after WISMO and the highest compliance risk. They need a specific sequence.</a:t>
            </a:r>
          </a:p>
        </p:txBody>
      </p:sp>
      <p:sp>
        <p:nvSpPr>
          <p:cNvPr id="8" name="TextBox 7">
            <a:extLst>
              <a:ext uri="{FF2B5EF4-FFF2-40B4-BE49-F238E27FC236}">
                <a16:creationId xmlns:a16="http://schemas.microsoft.com/office/drawing/2014/main" id="{D1561132-F15C-8D72-CF06-4A1F3D7AF9A4}"/>
              </a:ext>
            </a:extLst>
          </p:cNvPr>
          <p:cNvSpPr txBox="1"/>
          <p:nvPr/>
        </p:nvSpPr>
        <p:spPr>
          <a:xfrm>
            <a:off x="1645275" y="3977595"/>
            <a:ext cx="8901447" cy="13234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WHAT IS CONTINUITY: After the first order ships, the account is set up to continue shipping on a recurring schedule unless canceled. Many customers do not fully register this during checkout. Your job is to handle the confusion without blaming the customer and without defending the checkout page.</a:t>
            </a:r>
          </a:p>
        </p:txBody>
      </p:sp>
    </p:spTree>
    <p:extLst>
      <p:ext uri="{BB962C8B-B14F-4D97-AF65-F5344CB8AC3E}">
        <p14:creationId xmlns:p14="http://schemas.microsoft.com/office/powerpoint/2010/main" val="1983895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BC184D-9D2F-7A02-4761-6D7248A73687}"/>
              </a:ext>
            </a:extLst>
          </p:cNvPr>
          <p:cNvSpPr txBox="1"/>
          <p:nvPr/>
        </p:nvSpPr>
        <p:spPr>
          <a:xfrm>
            <a:off x="1763153" y="938413"/>
            <a:ext cx="1286993" cy="483017"/>
          </a:xfrm>
          <a:prstGeom prst="rect">
            <a:avLst/>
          </a:prstGeom>
          <a:noFill/>
        </p:spPr>
        <p:txBody>
          <a:bodyPr wrap="square">
            <a:spAutoFit/>
          </a:bodyPr>
          <a:lstStyle/>
          <a:p>
            <a:pPr marL="0" marR="0">
              <a:lnSpc>
                <a:spcPct val="115000"/>
              </a:lnSpc>
              <a:spcAft>
                <a:spcPts val="800"/>
              </a:spcAft>
              <a:buNone/>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Step 2b</a:t>
            </a:r>
          </a:p>
        </p:txBody>
      </p:sp>
      <p:sp>
        <p:nvSpPr>
          <p:cNvPr id="4" name="TextBox 3">
            <a:extLst>
              <a:ext uri="{FF2B5EF4-FFF2-40B4-BE49-F238E27FC236}">
                <a16:creationId xmlns:a16="http://schemas.microsoft.com/office/drawing/2014/main" id="{1424731C-F5F2-5F25-0D30-B4D2149840CB}"/>
              </a:ext>
            </a:extLst>
          </p:cNvPr>
          <p:cNvSpPr txBox="1"/>
          <p:nvPr/>
        </p:nvSpPr>
        <p:spPr>
          <a:xfrm>
            <a:off x="1763153" y="1885993"/>
            <a:ext cx="400443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approved continuity explanation</a:t>
            </a:r>
          </a:p>
        </p:txBody>
      </p:sp>
      <p:sp>
        <p:nvSpPr>
          <p:cNvPr id="8" name="TextBox 7">
            <a:extLst>
              <a:ext uri="{FF2B5EF4-FFF2-40B4-BE49-F238E27FC236}">
                <a16:creationId xmlns:a16="http://schemas.microsoft.com/office/drawing/2014/main" id="{B7568BD2-EA14-8C50-4C93-9433C1C5F4E3}"/>
              </a:ext>
            </a:extLst>
          </p:cNvPr>
          <p:cNvSpPr txBox="1"/>
          <p:nvPr/>
        </p:nvSpPr>
        <p:spPr>
          <a:xfrm>
            <a:off x="1763153" y="3187068"/>
            <a:ext cx="9233258"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i="1" dirty="0">
                <a:latin typeface="Times New Roman" panose="02020603050405020304" pitchFamily="18" charset="0"/>
                <a:cs typeface="Times New Roman" panose="02020603050405020304" pitchFamily="18" charset="0"/>
              </a:rPr>
              <a:t>“After the initial order, the account is set up to continue on a recurring basis — that is standard for this type of program. I completely understand that this was not clear. I have already closed the account so there will be no further charges or shipments. Now let me make sure you are fully taken care of on this charge.”</a:t>
            </a:r>
          </a:p>
        </p:txBody>
      </p:sp>
      <p:sp>
        <p:nvSpPr>
          <p:cNvPr id="10" name="TextBox 9">
            <a:extLst>
              <a:ext uri="{FF2B5EF4-FFF2-40B4-BE49-F238E27FC236}">
                <a16:creationId xmlns:a16="http://schemas.microsoft.com/office/drawing/2014/main" id="{AB2B2738-0FB7-F207-6597-7499442836C1}"/>
              </a:ext>
            </a:extLst>
          </p:cNvPr>
          <p:cNvSpPr txBox="1"/>
          <p:nvPr/>
        </p:nvSpPr>
        <p:spPr>
          <a:xfrm>
            <a:off x="1763153" y="2547548"/>
            <a:ext cx="4599009" cy="46166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AGENT</a:t>
            </a:r>
            <a:r>
              <a:rPr lang="en-US" sz="2400"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A9AC0FF7-C34C-417C-7E10-56C528117BAD}"/>
              </a:ext>
            </a:extLst>
          </p:cNvPr>
          <p:cNvSpPr txBox="1"/>
          <p:nvPr/>
        </p:nvSpPr>
        <p:spPr>
          <a:xfrm>
            <a:off x="1763152" y="4749300"/>
            <a:ext cx="9233257"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000" dirty="0">
                <a:latin typeface="Times New Roman" panose="02020603050405020304" pitchFamily="18" charset="0"/>
                <a:cs typeface="Times New Roman" panose="02020603050405020304" pitchFamily="18" charset="0"/>
              </a:rPr>
              <a:t>NEVER SAY: 'You agreed to this.' / 'It was in the terms.' / 'You checked the box.' / 'It was in the fine print.' These are compliance violations AND they instantly escalate every continuity call from medium to high risk. Never cite the terms to a confused customer.</a:t>
            </a:r>
          </a:p>
        </p:txBody>
      </p:sp>
    </p:spTree>
    <p:extLst>
      <p:ext uri="{BB962C8B-B14F-4D97-AF65-F5344CB8AC3E}">
        <p14:creationId xmlns:p14="http://schemas.microsoft.com/office/powerpoint/2010/main" val="3914280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B60906-F97D-4449-BDB7-3EF569F940E7}"/>
              </a:ext>
            </a:extLst>
          </p:cNvPr>
          <p:cNvSpPr txBox="1"/>
          <p:nvPr/>
        </p:nvSpPr>
        <p:spPr>
          <a:xfrm>
            <a:off x="901806" y="639581"/>
            <a:ext cx="4082318" cy="400110"/>
          </a:xfrm>
          <a:prstGeom prst="rect">
            <a:avLst/>
          </a:prstGeom>
          <a:noFill/>
        </p:spPr>
        <p:txBody>
          <a:bodyPr wrap="square">
            <a:spAutoFit/>
          </a:bodyPr>
          <a:lstStyle/>
          <a:p>
            <a:r>
              <a:rPr lang="en-US" sz="2000" b="1" u="sng" dirty="0">
                <a:latin typeface="Bookman Old Style" panose="02050604050505020204" pitchFamily="18" charset="0"/>
              </a:rPr>
              <a:t>Continuity call decision tree</a:t>
            </a:r>
          </a:p>
        </p:txBody>
      </p:sp>
      <p:pic>
        <p:nvPicPr>
          <p:cNvPr id="6" name="Picture 5">
            <a:extLst>
              <a:ext uri="{FF2B5EF4-FFF2-40B4-BE49-F238E27FC236}">
                <a16:creationId xmlns:a16="http://schemas.microsoft.com/office/drawing/2014/main" id="{10659777-B647-4BFE-D75F-3578456CD6EA}"/>
              </a:ext>
            </a:extLst>
          </p:cNvPr>
          <p:cNvPicPr>
            <a:picLocks noChangeAspect="1"/>
          </p:cNvPicPr>
          <p:nvPr/>
        </p:nvPicPr>
        <p:blipFill>
          <a:blip r:embed="rId2"/>
          <a:stretch>
            <a:fillRect/>
          </a:stretch>
        </p:blipFill>
        <p:spPr>
          <a:xfrm>
            <a:off x="901806" y="1296611"/>
            <a:ext cx="10388387" cy="510418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5723653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11FE0D-7B3E-D65A-F49E-9F954BF57C98}"/>
              </a:ext>
            </a:extLst>
          </p:cNvPr>
          <p:cNvSpPr txBox="1"/>
          <p:nvPr/>
        </p:nvSpPr>
        <p:spPr>
          <a:xfrm>
            <a:off x="1065725" y="716855"/>
            <a:ext cx="4510827" cy="400110"/>
          </a:xfrm>
          <a:prstGeom prst="rect">
            <a:avLst/>
          </a:prstGeom>
          <a:noFill/>
        </p:spPr>
        <p:txBody>
          <a:bodyPr wrap="square">
            <a:spAutoFit/>
          </a:bodyPr>
          <a:lstStyle/>
          <a:p>
            <a:r>
              <a:rPr lang="en-US" sz="2000" b="1" u="sng" dirty="0">
                <a:latin typeface="Bookman Old Style" panose="02050604050505020204" pitchFamily="18" charset="0"/>
                <a:cs typeface="Times New Roman" panose="02020603050405020304" pitchFamily="18" charset="0"/>
              </a:rPr>
              <a:t>Continuity-specific save offers </a:t>
            </a:r>
          </a:p>
        </p:txBody>
      </p:sp>
      <p:sp>
        <p:nvSpPr>
          <p:cNvPr id="5" name="TextBox 4">
            <a:extLst>
              <a:ext uri="{FF2B5EF4-FFF2-40B4-BE49-F238E27FC236}">
                <a16:creationId xmlns:a16="http://schemas.microsoft.com/office/drawing/2014/main" id="{35BA8808-96BE-30B7-4B12-4C0EE691B754}"/>
              </a:ext>
            </a:extLst>
          </p:cNvPr>
          <p:cNvSpPr txBox="1"/>
          <p:nvPr/>
        </p:nvSpPr>
        <p:spPr>
          <a:xfrm>
            <a:off x="1065725" y="1682770"/>
            <a:ext cx="904741" cy="461665"/>
          </a:xfrm>
          <a:prstGeom prst="rect">
            <a:avLst/>
          </a:prstGeom>
          <a:noFill/>
        </p:spPr>
        <p:txBody>
          <a:bodyPr wrap="square">
            <a:spAutoFit/>
          </a:bodyPr>
          <a:lstStyle/>
          <a:p>
            <a:r>
              <a:rPr lang="en-US" sz="2400" u="sng" dirty="0">
                <a:latin typeface="Times New Roman" panose="02020603050405020304" pitchFamily="18" charset="0"/>
                <a:cs typeface="Times New Roman" panose="02020603050405020304" pitchFamily="18" charset="0"/>
              </a:rPr>
              <a:t>Offer</a:t>
            </a:r>
          </a:p>
        </p:txBody>
      </p:sp>
      <p:sp>
        <p:nvSpPr>
          <p:cNvPr id="7" name="TextBox 6">
            <a:extLst>
              <a:ext uri="{FF2B5EF4-FFF2-40B4-BE49-F238E27FC236}">
                <a16:creationId xmlns:a16="http://schemas.microsoft.com/office/drawing/2014/main" id="{004B5CD9-FEE0-4DE3-36BD-5A75BB0D5041}"/>
              </a:ext>
            </a:extLst>
          </p:cNvPr>
          <p:cNvSpPr txBox="1"/>
          <p:nvPr/>
        </p:nvSpPr>
        <p:spPr>
          <a:xfrm>
            <a:off x="1065725" y="2464019"/>
            <a:ext cx="230853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Skip next shipment</a:t>
            </a:r>
          </a:p>
        </p:txBody>
      </p:sp>
      <p:sp>
        <p:nvSpPr>
          <p:cNvPr id="9" name="TextBox 8">
            <a:extLst>
              <a:ext uri="{FF2B5EF4-FFF2-40B4-BE49-F238E27FC236}">
                <a16:creationId xmlns:a16="http://schemas.microsoft.com/office/drawing/2014/main" id="{0A212147-B82C-EEB6-5969-9DA5EF818903}"/>
              </a:ext>
            </a:extLst>
          </p:cNvPr>
          <p:cNvSpPr txBox="1"/>
          <p:nvPr/>
        </p:nvSpPr>
        <p:spPr>
          <a:xfrm>
            <a:off x="5226136" y="1682769"/>
            <a:ext cx="1028701" cy="461665"/>
          </a:xfrm>
          <a:prstGeom prst="rect">
            <a:avLst/>
          </a:prstGeom>
          <a:noFill/>
        </p:spPr>
        <p:txBody>
          <a:bodyPr wrap="square">
            <a:spAutoFit/>
          </a:bodyPr>
          <a:lstStyle/>
          <a:p>
            <a:r>
              <a:rPr lang="en-US" sz="2400" u="sng" dirty="0">
                <a:latin typeface="Times New Roman" panose="02020603050405020304" pitchFamily="18" charset="0"/>
                <a:cs typeface="Times New Roman" panose="02020603050405020304" pitchFamily="18" charset="0"/>
              </a:rPr>
              <a:t>Script</a:t>
            </a:r>
          </a:p>
        </p:txBody>
      </p:sp>
      <p:sp>
        <p:nvSpPr>
          <p:cNvPr id="11" name="TextBox 10">
            <a:extLst>
              <a:ext uri="{FF2B5EF4-FFF2-40B4-BE49-F238E27FC236}">
                <a16:creationId xmlns:a16="http://schemas.microsoft.com/office/drawing/2014/main" id="{DDF09113-6016-64CF-C038-60D0BFDD6BA2}"/>
              </a:ext>
            </a:extLst>
          </p:cNvPr>
          <p:cNvSpPr txBox="1"/>
          <p:nvPr/>
        </p:nvSpPr>
        <p:spPr>
          <a:xfrm>
            <a:off x="8725437" y="1682770"/>
            <a:ext cx="1754747" cy="461665"/>
          </a:xfrm>
          <a:prstGeom prst="rect">
            <a:avLst/>
          </a:prstGeom>
          <a:noFill/>
        </p:spPr>
        <p:txBody>
          <a:bodyPr wrap="square">
            <a:spAutoFit/>
          </a:bodyPr>
          <a:lstStyle/>
          <a:p>
            <a:r>
              <a:rPr lang="en-US" sz="2400" u="sng" dirty="0">
                <a:latin typeface="Times New Roman" panose="02020603050405020304" pitchFamily="18" charset="0"/>
                <a:cs typeface="Times New Roman" panose="02020603050405020304" pitchFamily="18" charset="0"/>
              </a:rPr>
              <a:t>When</a:t>
            </a:r>
            <a:r>
              <a:rPr lang="en-US" sz="2400" dirty="0">
                <a:latin typeface="Times New Roman" panose="02020603050405020304" pitchFamily="18" charset="0"/>
                <a:cs typeface="Times New Roman" panose="02020603050405020304" pitchFamily="18" charset="0"/>
              </a:rPr>
              <a:t> to use</a:t>
            </a:r>
          </a:p>
        </p:txBody>
      </p:sp>
      <p:sp>
        <p:nvSpPr>
          <p:cNvPr id="13" name="TextBox 12">
            <a:extLst>
              <a:ext uri="{FF2B5EF4-FFF2-40B4-BE49-F238E27FC236}">
                <a16:creationId xmlns:a16="http://schemas.microsoft.com/office/drawing/2014/main" id="{43BE4193-0A7C-0FD4-B127-AA18840F4692}"/>
              </a:ext>
            </a:extLst>
          </p:cNvPr>
          <p:cNvSpPr txBox="1"/>
          <p:nvPr/>
        </p:nvSpPr>
        <p:spPr>
          <a:xfrm>
            <a:off x="3860442" y="2464019"/>
            <a:ext cx="3725214"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"What I can do is skip the next scheduled shipment so you have more time with what you have. Nothing ships, nothing charges."</a:t>
            </a:r>
          </a:p>
        </p:txBody>
      </p:sp>
      <p:sp>
        <p:nvSpPr>
          <p:cNvPr id="15" name="TextBox 14">
            <a:extLst>
              <a:ext uri="{FF2B5EF4-FFF2-40B4-BE49-F238E27FC236}">
                <a16:creationId xmlns:a16="http://schemas.microsoft.com/office/drawing/2014/main" id="{BDDE3278-F36C-F6B6-AE98-434813869C2C}"/>
              </a:ext>
            </a:extLst>
          </p:cNvPr>
          <p:cNvSpPr txBox="1"/>
          <p:nvPr/>
        </p:nvSpPr>
        <p:spPr>
          <a:xfrm>
            <a:off x="8144278" y="2464018"/>
            <a:ext cx="2917064"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Customer who has product on hand and is not opposed to it — just surprised by the cadence.</a:t>
            </a:r>
          </a:p>
        </p:txBody>
      </p:sp>
      <p:sp>
        <p:nvSpPr>
          <p:cNvPr id="17" name="TextBox 16">
            <a:extLst>
              <a:ext uri="{FF2B5EF4-FFF2-40B4-BE49-F238E27FC236}">
                <a16:creationId xmlns:a16="http://schemas.microsoft.com/office/drawing/2014/main" id="{0CC8FE62-40F2-653C-F466-38FC0A54BDB2}"/>
              </a:ext>
            </a:extLst>
          </p:cNvPr>
          <p:cNvSpPr txBox="1"/>
          <p:nvPr/>
        </p:nvSpPr>
        <p:spPr>
          <a:xfrm>
            <a:off x="1065725" y="4503243"/>
            <a:ext cx="230853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Extend billing cycle</a:t>
            </a:r>
          </a:p>
        </p:txBody>
      </p:sp>
      <p:sp>
        <p:nvSpPr>
          <p:cNvPr id="19" name="TextBox 18">
            <a:extLst>
              <a:ext uri="{FF2B5EF4-FFF2-40B4-BE49-F238E27FC236}">
                <a16:creationId xmlns:a16="http://schemas.microsoft.com/office/drawing/2014/main" id="{52A05B71-3E36-F53B-57AB-92D33159E90B}"/>
              </a:ext>
            </a:extLst>
          </p:cNvPr>
          <p:cNvSpPr txBox="1"/>
          <p:nvPr/>
        </p:nvSpPr>
        <p:spPr>
          <a:xfrm>
            <a:off x="3895320" y="4503243"/>
            <a:ext cx="3690335"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"I can shift you to every 60 or 90 days — same program, less frequent. Would that feel more manageable?"</a:t>
            </a:r>
          </a:p>
        </p:txBody>
      </p:sp>
      <p:sp>
        <p:nvSpPr>
          <p:cNvPr id="21" name="TextBox 20">
            <a:extLst>
              <a:ext uri="{FF2B5EF4-FFF2-40B4-BE49-F238E27FC236}">
                <a16:creationId xmlns:a16="http://schemas.microsoft.com/office/drawing/2014/main" id="{D6A74E79-3257-256C-50CD-2F1FFDFE6039}"/>
              </a:ext>
            </a:extLst>
          </p:cNvPr>
          <p:cNvSpPr txBox="1"/>
          <p:nvPr/>
        </p:nvSpPr>
        <p:spPr>
          <a:xfrm>
            <a:off x="8144278" y="4503243"/>
            <a:ext cx="3287333"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Customer who likes the product but says shipments come too fast.</a:t>
            </a:r>
          </a:p>
        </p:txBody>
      </p:sp>
    </p:spTree>
    <p:extLst>
      <p:ext uri="{BB962C8B-B14F-4D97-AF65-F5344CB8AC3E}">
        <p14:creationId xmlns:p14="http://schemas.microsoft.com/office/powerpoint/2010/main" val="2860559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8C3D8-B3C9-E7C0-4B35-EDE6654470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81EEEC-07C7-31E8-883D-555B44D83059}"/>
              </a:ext>
            </a:extLst>
          </p:cNvPr>
          <p:cNvSpPr txBox="1"/>
          <p:nvPr/>
        </p:nvSpPr>
        <p:spPr>
          <a:xfrm>
            <a:off x="1065725" y="716855"/>
            <a:ext cx="6764629" cy="400110"/>
          </a:xfrm>
          <a:prstGeom prst="rect">
            <a:avLst/>
          </a:prstGeom>
          <a:noFill/>
        </p:spPr>
        <p:txBody>
          <a:bodyPr wrap="square">
            <a:spAutoFit/>
          </a:bodyPr>
          <a:lstStyle/>
          <a:p>
            <a:r>
              <a:rPr lang="en-US" sz="2000" b="1" u="sng" dirty="0">
                <a:latin typeface="Bookman Old Style" panose="02050604050505020204" pitchFamily="18" charset="0"/>
                <a:cs typeface="Times New Roman" panose="02020603050405020304" pitchFamily="18" charset="0"/>
              </a:rPr>
              <a:t>Continuity-specific save offers </a:t>
            </a:r>
          </a:p>
        </p:txBody>
      </p:sp>
      <p:sp>
        <p:nvSpPr>
          <p:cNvPr id="5" name="TextBox 4">
            <a:extLst>
              <a:ext uri="{FF2B5EF4-FFF2-40B4-BE49-F238E27FC236}">
                <a16:creationId xmlns:a16="http://schemas.microsoft.com/office/drawing/2014/main" id="{85DD90BC-4D63-FBAA-7A89-1C71006FC0A9}"/>
              </a:ext>
            </a:extLst>
          </p:cNvPr>
          <p:cNvSpPr txBox="1"/>
          <p:nvPr/>
        </p:nvSpPr>
        <p:spPr>
          <a:xfrm>
            <a:off x="1065725" y="1489477"/>
            <a:ext cx="904741" cy="461665"/>
          </a:xfrm>
          <a:prstGeom prst="rect">
            <a:avLst/>
          </a:prstGeom>
          <a:noFill/>
        </p:spPr>
        <p:txBody>
          <a:bodyPr wrap="square">
            <a:spAutoFit/>
          </a:bodyPr>
          <a:lstStyle/>
          <a:p>
            <a:r>
              <a:rPr lang="en-US" sz="2400" u="sng" dirty="0">
                <a:latin typeface="Times New Roman" panose="02020603050405020304" pitchFamily="18" charset="0"/>
                <a:cs typeface="Times New Roman" panose="02020603050405020304" pitchFamily="18" charset="0"/>
              </a:rPr>
              <a:t>Offer</a:t>
            </a:r>
          </a:p>
        </p:txBody>
      </p:sp>
      <p:sp>
        <p:nvSpPr>
          <p:cNvPr id="7" name="TextBox 6">
            <a:extLst>
              <a:ext uri="{FF2B5EF4-FFF2-40B4-BE49-F238E27FC236}">
                <a16:creationId xmlns:a16="http://schemas.microsoft.com/office/drawing/2014/main" id="{426AA640-112F-A52C-E512-4C35C85EA25D}"/>
              </a:ext>
            </a:extLst>
          </p:cNvPr>
          <p:cNvSpPr txBox="1"/>
          <p:nvPr/>
        </p:nvSpPr>
        <p:spPr>
          <a:xfrm>
            <a:off x="1066794" y="2071533"/>
            <a:ext cx="2308538"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Pause 30–60 days</a:t>
            </a:r>
          </a:p>
        </p:txBody>
      </p:sp>
      <p:sp>
        <p:nvSpPr>
          <p:cNvPr id="9" name="TextBox 8">
            <a:extLst>
              <a:ext uri="{FF2B5EF4-FFF2-40B4-BE49-F238E27FC236}">
                <a16:creationId xmlns:a16="http://schemas.microsoft.com/office/drawing/2014/main" id="{EDF45546-22C3-E1AE-1234-03659A33C3B5}"/>
              </a:ext>
            </a:extLst>
          </p:cNvPr>
          <p:cNvSpPr txBox="1"/>
          <p:nvPr/>
        </p:nvSpPr>
        <p:spPr>
          <a:xfrm>
            <a:off x="4895581" y="1459357"/>
            <a:ext cx="1015822" cy="461665"/>
          </a:xfrm>
          <a:prstGeom prst="rect">
            <a:avLst/>
          </a:prstGeom>
          <a:noFill/>
        </p:spPr>
        <p:txBody>
          <a:bodyPr wrap="square">
            <a:spAutoFit/>
          </a:bodyPr>
          <a:lstStyle/>
          <a:p>
            <a:r>
              <a:rPr lang="en-US" sz="2400" u="sng" dirty="0">
                <a:latin typeface="Times New Roman" panose="02020603050405020304" pitchFamily="18" charset="0"/>
                <a:cs typeface="Times New Roman" panose="02020603050405020304" pitchFamily="18" charset="0"/>
              </a:rPr>
              <a:t>Script</a:t>
            </a:r>
          </a:p>
        </p:txBody>
      </p:sp>
      <p:sp>
        <p:nvSpPr>
          <p:cNvPr id="11" name="TextBox 10">
            <a:extLst>
              <a:ext uri="{FF2B5EF4-FFF2-40B4-BE49-F238E27FC236}">
                <a16:creationId xmlns:a16="http://schemas.microsoft.com/office/drawing/2014/main" id="{3ECC526F-57A7-638B-DC43-CF9B4AA3F530}"/>
              </a:ext>
            </a:extLst>
          </p:cNvPr>
          <p:cNvSpPr txBox="1"/>
          <p:nvPr/>
        </p:nvSpPr>
        <p:spPr>
          <a:xfrm>
            <a:off x="8725437" y="1450730"/>
            <a:ext cx="1754747"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When to use</a:t>
            </a:r>
          </a:p>
        </p:txBody>
      </p:sp>
      <p:sp>
        <p:nvSpPr>
          <p:cNvPr id="13" name="TextBox 12">
            <a:extLst>
              <a:ext uri="{FF2B5EF4-FFF2-40B4-BE49-F238E27FC236}">
                <a16:creationId xmlns:a16="http://schemas.microsoft.com/office/drawing/2014/main" id="{160993CD-FC92-1265-92AE-9AB4C50A1B23}"/>
              </a:ext>
            </a:extLst>
          </p:cNvPr>
          <p:cNvSpPr txBox="1"/>
          <p:nvPr/>
        </p:nvSpPr>
        <p:spPr>
          <a:xfrm>
            <a:off x="3843001" y="2071440"/>
            <a:ext cx="3725214"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"I can put the account on pause — nothing charges during that time. You can call back to resume or cancel before it restarts."</a:t>
            </a:r>
          </a:p>
        </p:txBody>
      </p:sp>
      <p:sp>
        <p:nvSpPr>
          <p:cNvPr id="15" name="TextBox 14">
            <a:extLst>
              <a:ext uri="{FF2B5EF4-FFF2-40B4-BE49-F238E27FC236}">
                <a16:creationId xmlns:a16="http://schemas.microsoft.com/office/drawing/2014/main" id="{B9866A46-A3C8-A1E2-D2A2-F107BD1A9E4D}"/>
              </a:ext>
            </a:extLst>
          </p:cNvPr>
          <p:cNvSpPr txBox="1"/>
          <p:nvPr/>
        </p:nvSpPr>
        <p:spPr>
          <a:xfrm>
            <a:off x="8071833" y="2010116"/>
            <a:ext cx="2917064"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Customer who is undecided. Pause keeps the account open without pressure. </a:t>
            </a:r>
          </a:p>
        </p:txBody>
      </p:sp>
      <p:sp>
        <p:nvSpPr>
          <p:cNvPr id="17" name="TextBox 16">
            <a:extLst>
              <a:ext uri="{FF2B5EF4-FFF2-40B4-BE49-F238E27FC236}">
                <a16:creationId xmlns:a16="http://schemas.microsoft.com/office/drawing/2014/main" id="{E2F02314-03F6-D21F-CEEC-CD3D458516D6}"/>
              </a:ext>
            </a:extLst>
          </p:cNvPr>
          <p:cNvSpPr txBox="1"/>
          <p:nvPr/>
        </p:nvSpPr>
        <p:spPr>
          <a:xfrm>
            <a:off x="1066794" y="3533747"/>
            <a:ext cx="2308538"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Downgrade + continue</a:t>
            </a:r>
          </a:p>
        </p:txBody>
      </p:sp>
      <p:sp>
        <p:nvSpPr>
          <p:cNvPr id="19" name="TextBox 18">
            <a:extLst>
              <a:ext uri="{FF2B5EF4-FFF2-40B4-BE49-F238E27FC236}">
                <a16:creationId xmlns:a16="http://schemas.microsoft.com/office/drawing/2014/main" id="{9E8B2154-E043-B71D-3774-A76F7C9A61DD}"/>
              </a:ext>
            </a:extLst>
          </p:cNvPr>
          <p:cNvSpPr txBox="1"/>
          <p:nvPr/>
        </p:nvSpPr>
        <p:spPr>
          <a:xfrm>
            <a:off x="3860440" y="3637630"/>
            <a:ext cx="3690335" cy="163121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"I can adjust your shipment to the smaller 2-bottle option — lower cost, same program. Brings the recurring charge down to about $119."</a:t>
            </a:r>
          </a:p>
        </p:txBody>
      </p:sp>
      <p:sp>
        <p:nvSpPr>
          <p:cNvPr id="21" name="TextBox 20">
            <a:extLst>
              <a:ext uri="{FF2B5EF4-FFF2-40B4-BE49-F238E27FC236}">
                <a16:creationId xmlns:a16="http://schemas.microsoft.com/office/drawing/2014/main" id="{F3151847-F418-9993-5FDD-CE4CF2B4A3C4}"/>
              </a:ext>
            </a:extLst>
          </p:cNvPr>
          <p:cNvSpPr txBox="1"/>
          <p:nvPr/>
        </p:nvSpPr>
        <p:spPr>
          <a:xfrm>
            <a:off x="8035883" y="3643418"/>
            <a:ext cx="3287333"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Customer whose objection is cost, not concept. They would stay at a lower price.</a:t>
            </a:r>
          </a:p>
        </p:txBody>
      </p:sp>
      <p:sp>
        <p:nvSpPr>
          <p:cNvPr id="4" name="TextBox 3">
            <a:extLst>
              <a:ext uri="{FF2B5EF4-FFF2-40B4-BE49-F238E27FC236}">
                <a16:creationId xmlns:a16="http://schemas.microsoft.com/office/drawing/2014/main" id="{231A74B4-74ED-768C-1EA5-CF48B7065D7C}"/>
              </a:ext>
            </a:extLst>
          </p:cNvPr>
          <p:cNvSpPr txBox="1"/>
          <p:nvPr/>
        </p:nvSpPr>
        <p:spPr>
          <a:xfrm>
            <a:off x="1065725" y="5398643"/>
            <a:ext cx="10293441" cy="13234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CONTINUITY SAVE INSIGHT: Most continuity callers who cancel would have accepted a skip, pause, or frequency change if it had been offered clearly and without guilt. Most agents go straight to cancellation because they assume the customer wants to leave. Ask before you cancel.</a:t>
            </a:r>
          </a:p>
        </p:txBody>
      </p:sp>
    </p:spTree>
    <p:extLst>
      <p:ext uri="{BB962C8B-B14F-4D97-AF65-F5344CB8AC3E}">
        <p14:creationId xmlns:p14="http://schemas.microsoft.com/office/powerpoint/2010/main" val="474359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B6355F-B018-8298-8D83-95829FAB8CBC}"/>
              </a:ext>
            </a:extLst>
          </p:cNvPr>
          <p:cNvSpPr txBox="1"/>
          <p:nvPr/>
        </p:nvSpPr>
        <p:spPr>
          <a:xfrm>
            <a:off x="1409700" y="743907"/>
            <a:ext cx="785021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Step 3 — Stop future billing (billing and refund calls only)</a:t>
            </a:r>
          </a:p>
        </p:txBody>
      </p:sp>
      <p:sp>
        <p:nvSpPr>
          <p:cNvPr id="7" name="TextBox 6">
            <a:extLst>
              <a:ext uri="{FF2B5EF4-FFF2-40B4-BE49-F238E27FC236}">
                <a16:creationId xmlns:a16="http://schemas.microsoft.com/office/drawing/2014/main" id="{9E4E6501-294A-5BBE-0C76-9258567F192C}"/>
              </a:ext>
            </a:extLst>
          </p:cNvPr>
          <p:cNvSpPr txBox="1"/>
          <p:nvPr/>
        </p:nvSpPr>
        <p:spPr>
          <a:xfrm>
            <a:off x="1409700" y="2518431"/>
            <a:ext cx="9372600" cy="70788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“I've gone ahead and closed the account so there will be no future charges or shipments.”</a:t>
            </a:r>
          </a:p>
        </p:txBody>
      </p:sp>
      <p:sp>
        <p:nvSpPr>
          <p:cNvPr id="9" name="TextBox 8">
            <a:extLst>
              <a:ext uri="{FF2B5EF4-FFF2-40B4-BE49-F238E27FC236}">
                <a16:creationId xmlns:a16="http://schemas.microsoft.com/office/drawing/2014/main" id="{BDA3FA6F-4D56-60FC-350D-C457E9835126}"/>
              </a:ext>
            </a:extLst>
          </p:cNvPr>
          <p:cNvSpPr txBox="1"/>
          <p:nvPr/>
        </p:nvSpPr>
        <p:spPr>
          <a:xfrm>
            <a:off x="1409700" y="2080073"/>
            <a:ext cx="128198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AGENT: </a:t>
            </a:r>
          </a:p>
        </p:txBody>
      </p:sp>
      <p:sp>
        <p:nvSpPr>
          <p:cNvPr id="11" name="TextBox 10">
            <a:extLst>
              <a:ext uri="{FF2B5EF4-FFF2-40B4-BE49-F238E27FC236}">
                <a16:creationId xmlns:a16="http://schemas.microsoft.com/office/drawing/2014/main" id="{0ED2B894-7FD3-728E-BA60-E649B256A465}"/>
              </a:ext>
            </a:extLst>
          </p:cNvPr>
          <p:cNvSpPr txBox="1"/>
          <p:nvPr/>
        </p:nvSpPr>
        <p:spPr>
          <a:xfrm>
            <a:off x="1409700" y="3354684"/>
            <a:ext cx="274642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[Pause — let that land]</a:t>
            </a:r>
          </a:p>
        </p:txBody>
      </p:sp>
      <p:sp>
        <p:nvSpPr>
          <p:cNvPr id="13" name="TextBox 12">
            <a:extLst>
              <a:ext uri="{FF2B5EF4-FFF2-40B4-BE49-F238E27FC236}">
                <a16:creationId xmlns:a16="http://schemas.microsoft.com/office/drawing/2014/main" id="{95997620-3E4F-162C-7214-05DF62586167}"/>
              </a:ext>
            </a:extLst>
          </p:cNvPr>
          <p:cNvSpPr txBox="1"/>
          <p:nvPr/>
        </p:nvSpPr>
        <p:spPr>
          <a:xfrm>
            <a:off x="1409700" y="4339569"/>
            <a:ext cx="9563100"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Do NOT explain the subscription before stopping billing. Do NOT defend the checkout. Do NOT run this step on WISMO or product question calls — see Step 3 call classification. On billing and refund calls: stop billing first, explain second.</a:t>
            </a:r>
          </a:p>
        </p:txBody>
      </p:sp>
    </p:spTree>
    <p:extLst>
      <p:ext uri="{BB962C8B-B14F-4D97-AF65-F5344CB8AC3E}">
        <p14:creationId xmlns:p14="http://schemas.microsoft.com/office/powerpoint/2010/main" val="2124344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ED42B7-D586-7912-C7C8-DF97884D4C32}"/>
              </a:ext>
            </a:extLst>
          </p:cNvPr>
          <p:cNvSpPr txBox="1"/>
          <p:nvPr/>
        </p:nvSpPr>
        <p:spPr>
          <a:xfrm>
            <a:off x="1568896" y="877102"/>
            <a:ext cx="7394799" cy="483017"/>
          </a:xfrm>
          <a:prstGeom prst="rect">
            <a:avLst/>
          </a:prstGeom>
          <a:noFill/>
        </p:spPr>
        <p:txBody>
          <a:bodyPr wrap="square">
            <a:spAutoFit/>
          </a:bodyPr>
          <a:lstStyle/>
          <a:p>
            <a:pPr>
              <a:lnSpc>
                <a:spcPct val="115000"/>
              </a:lnSpc>
              <a:spcAft>
                <a:spcPts val="800"/>
              </a:spcAft>
            </a:pPr>
            <a:r>
              <a:rPr lang="en-US" sz="2400" b="1" dirty="0">
                <a:latin typeface="Times New Roman" panose="02020603050405020304" pitchFamily="18" charset="0"/>
                <a:cs typeface="Times New Roman" panose="02020603050405020304" pitchFamily="18" charset="0"/>
              </a:rPr>
              <a:t>Step 4 — Identify root cause (billing and refund calls)</a:t>
            </a:r>
            <a:endPar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CA3F596-E23C-69CF-F9F4-4A789AC9124C}"/>
              </a:ext>
            </a:extLst>
          </p:cNvPr>
          <p:cNvSpPr txBox="1"/>
          <p:nvPr/>
        </p:nvSpPr>
        <p:spPr>
          <a:xfrm>
            <a:off x="1568896" y="1791502"/>
            <a:ext cx="1136561"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AGENT</a:t>
            </a:r>
            <a:r>
              <a:rPr lang="en-US" dirty="0"/>
              <a:t>:</a:t>
            </a:r>
          </a:p>
        </p:txBody>
      </p:sp>
      <p:sp>
        <p:nvSpPr>
          <p:cNvPr id="7" name="TextBox 6">
            <a:extLst>
              <a:ext uri="{FF2B5EF4-FFF2-40B4-BE49-F238E27FC236}">
                <a16:creationId xmlns:a16="http://schemas.microsoft.com/office/drawing/2014/main" id="{76DA34B3-AE26-0A74-5002-61F38EE8DCDE}"/>
              </a:ext>
            </a:extLst>
          </p:cNvPr>
          <p:cNvSpPr txBox="1"/>
          <p:nvPr/>
        </p:nvSpPr>
        <p:spPr>
          <a:xfrm>
            <a:off x="1568896" y="2228671"/>
            <a:ext cx="8629204" cy="707886"/>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“Now that we've got that sorted — can you help me understand what happened? Was it the charge amount, something about the product, or something else?”</a:t>
            </a:r>
          </a:p>
        </p:txBody>
      </p:sp>
      <p:sp>
        <p:nvSpPr>
          <p:cNvPr id="9" name="TextBox 8">
            <a:extLst>
              <a:ext uri="{FF2B5EF4-FFF2-40B4-BE49-F238E27FC236}">
                <a16:creationId xmlns:a16="http://schemas.microsoft.com/office/drawing/2014/main" id="{0517F3C8-255B-33EA-41E8-FEE547978EE8}"/>
              </a:ext>
            </a:extLst>
          </p:cNvPr>
          <p:cNvSpPr txBox="1"/>
          <p:nvPr/>
        </p:nvSpPr>
        <p:spPr>
          <a:xfrm>
            <a:off x="1568895" y="3274616"/>
            <a:ext cx="8629203"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[PAUSE — wait for full answer. Do not interrupt. Their answer tells you which path you're on.]</a:t>
            </a:r>
          </a:p>
        </p:txBody>
      </p:sp>
      <p:sp>
        <p:nvSpPr>
          <p:cNvPr id="11" name="TextBox 10">
            <a:extLst>
              <a:ext uri="{FF2B5EF4-FFF2-40B4-BE49-F238E27FC236}">
                <a16:creationId xmlns:a16="http://schemas.microsoft.com/office/drawing/2014/main" id="{A0A06A75-6C67-6707-D93B-1D5FDC9F06F7}"/>
              </a:ext>
            </a:extLst>
          </p:cNvPr>
          <p:cNvSpPr txBox="1"/>
          <p:nvPr/>
        </p:nvSpPr>
        <p:spPr>
          <a:xfrm>
            <a:off x="1568895" y="4604833"/>
            <a:ext cx="8629202" cy="70788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Dialpad AI listens for: I understand, the reason, what happened, let me look into. Let them explain fully before responding.</a:t>
            </a:r>
          </a:p>
        </p:txBody>
      </p:sp>
    </p:spTree>
    <p:extLst>
      <p:ext uri="{BB962C8B-B14F-4D97-AF65-F5344CB8AC3E}">
        <p14:creationId xmlns:p14="http://schemas.microsoft.com/office/powerpoint/2010/main" val="1571228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2FD008-BF96-F5B8-C29F-AD76EED9BCE4}"/>
              </a:ext>
            </a:extLst>
          </p:cNvPr>
          <p:cNvSpPr txBox="1"/>
          <p:nvPr/>
        </p:nvSpPr>
        <p:spPr>
          <a:xfrm>
            <a:off x="645441" y="668927"/>
            <a:ext cx="8153400" cy="417871"/>
          </a:xfrm>
          <a:prstGeom prst="rect">
            <a:avLst/>
          </a:prstGeom>
          <a:noFill/>
        </p:spPr>
        <p:txBody>
          <a:bodyPr wrap="square">
            <a:spAutoFit/>
          </a:bodyPr>
          <a:lstStyle/>
          <a:p>
            <a:pPr>
              <a:lnSpc>
                <a:spcPct val="115000"/>
              </a:lnSpc>
              <a:spcAft>
                <a:spcPts val="800"/>
              </a:spcAft>
            </a:pPr>
            <a:r>
              <a:rPr lang="en-US" sz="2000" b="1" dirty="0">
                <a:latin typeface="Times New Roman" panose="02020603050405020304" pitchFamily="18" charset="0"/>
                <a:cs typeface="Times New Roman" panose="02020603050405020304" pitchFamily="18" charset="0"/>
              </a:rPr>
              <a:t>Step 5 — Read temperature and choose path (billing and refund calls)</a:t>
            </a:r>
            <a:endPar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E0B0C2C-6B8B-2AF0-729C-3DDA8C58AB1E}"/>
              </a:ext>
            </a:extLst>
          </p:cNvPr>
          <p:cNvPicPr>
            <a:picLocks noChangeAspect="1"/>
          </p:cNvPicPr>
          <p:nvPr/>
        </p:nvPicPr>
        <p:blipFill>
          <a:blip r:embed="rId3"/>
          <a:stretch>
            <a:fillRect/>
          </a:stretch>
        </p:blipFill>
        <p:spPr>
          <a:xfrm>
            <a:off x="799988" y="1060790"/>
            <a:ext cx="10185691" cy="285132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7" name="TextBox 6">
            <a:extLst>
              <a:ext uri="{FF2B5EF4-FFF2-40B4-BE49-F238E27FC236}">
                <a16:creationId xmlns:a16="http://schemas.microsoft.com/office/drawing/2014/main" id="{26CED54F-55F0-DC11-4D20-1BD4F78C7A52}"/>
              </a:ext>
            </a:extLst>
          </p:cNvPr>
          <p:cNvSpPr txBox="1"/>
          <p:nvPr/>
        </p:nvSpPr>
        <p:spPr>
          <a:xfrm>
            <a:off x="799988" y="4636811"/>
            <a:ext cx="6098146"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Step 6 — Clear verbal closure</a:t>
            </a:r>
          </a:p>
        </p:txBody>
      </p:sp>
      <p:sp>
        <p:nvSpPr>
          <p:cNvPr id="9" name="TextBox 8">
            <a:extLst>
              <a:ext uri="{FF2B5EF4-FFF2-40B4-BE49-F238E27FC236}">
                <a16:creationId xmlns:a16="http://schemas.microsoft.com/office/drawing/2014/main" id="{10799AD4-0127-D2A6-954D-A5A037104571}"/>
              </a:ext>
            </a:extLst>
          </p:cNvPr>
          <p:cNvSpPr txBox="1"/>
          <p:nvPr/>
        </p:nvSpPr>
        <p:spPr>
          <a:xfrm>
            <a:off x="799988" y="5182109"/>
            <a:ext cx="1221996"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AGENT:</a:t>
            </a:r>
          </a:p>
        </p:txBody>
      </p:sp>
      <p:sp>
        <p:nvSpPr>
          <p:cNvPr id="11" name="TextBox 10">
            <a:extLst>
              <a:ext uri="{FF2B5EF4-FFF2-40B4-BE49-F238E27FC236}">
                <a16:creationId xmlns:a16="http://schemas.microsoft.com/office/drawing/2014/main" id="{A0A27B34-D8D1-404E-5B07-33B0D8209077}"/>
              </a:ext>
            </a:extLst>
          </p:cNvPr>
          <p:cNvSpPr txBox="1"/>
          <p:nvPr/>
        </p:nvSpPr>
        <p:spPr>
          <a:xfrm>
            <a:off x="799988" y="5582219"/>
            <a:ext cx="10185691" cy="101566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b="1" i="1" dirty="0">
                <a:latin typeface="Times New Roman" panose="02020603050405020304" pitchFamily="18" charset="0"/>
                <a:cs typeface="Times New Roman" panose="02020603050405020304" pitchFamily="18" charset="0"/>
              </a:rPr>
              <a:t>“To recap: your account is closed and there will be no future charges. [If refund:] The adjustment of [amount] will reflect within 3–5 business days. This resolves the issue on our end. Is there anything else I can help with today?”</a:t>
            </a:r>
          </a:p>
        </p:txBody>
      </p:sp>
    </p:spTree>
    <p:extLst>
      <p:ext uri="{BB962C8B-B14F-4D97-AF65-F5344CB8AC3E}">
        <p14:creationId xmlns:p14="http://schemas.microsoft.com/office/powerpoint/2010/main" val="1510298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A66F7E-45D4-7D2E-04EB-019A6CF2D386}"/>
              </a:ext>
            </a:extLst>
          </p:cNvPr>
          <p:cNvSpPr txBox="1"/>
          <p:nvPr/>
        </p:nvSpPr>
        <p:spPr>
          <a:xfrm>
            <a:off x="1327150" y="753765"/>
            <a:ext cx="4416827" cy="417230"/>
          </a:xfrm>
          <a:prstGeom prst="rect">
            <a:avLst/>
          </a:prstGeom>
          <a:noFill/>
        </p:spPr>
        <p:txBody>
          <a:bodyPr wrap="square">
            <a:spAutoFit/>
          </a:bodyPr>
          <a:lstStyle/>
          <a:p>
            <a:pPr>
              <a:lnSpc>
                <a:spcPct val="115000"/>
              </a:lnSpc>
              <a:spcAft>
                <a:spcPts val="800"/>
              </a:spcAft>
            </a:pPr>
            <a:r>
              <a:rPr lang="en-US" sz="2000" b="1" dirty="0">
                <a:latin typeface="Times New Roman" panose="02020603050405020304" pitchFamily="18" charset="0"/>
                <a:cs typeface="Times New Roman" panose="02020603050405020304" pitchFamily="18" charset="0"/>
              </a:rPr>
              <a:t>Step 7 — Document before hanging up</a:t>
            </a:r>
            <a:endPar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B8B96B66-63BA-D27F-5C06-EFC0DDB43F2E}"/>
              </a:ext>
            </a:extLst>
          </p:cNvPr>
          <p:cNvSpPr txBox="1"/>
          <p:nvPr/>
        </p:nvSpPr>
        <p:spPr>
          <a:xfrm>
            <a:off x="1327150" y="1502466"/>
            <a:ext cx="136838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AGENT:</a:t>
            </a:r>
          </a:p>
        </p:txBody>
      </p:sp>
      <p:sp>
        <p:nvSpPr>
          <p:cNvPr id="7" name="TextBox 6">
            <a:extLst>
              <a:ext uri="{FF2B5EF4-FFF2-40B4-BE49-F238E27FC236}">
                <a16:creationId xmlns:a16="http://schemas.microsoft.com/office/drawing/2014/main" id="{7CA6BBD0-8A3B-24DC-49A8-3265E97DA466}"/>
              </a:ext>
            </a:extLst>
          </p:cNvPr>
          <p:cNvSpPr txBox="1"/>
          <p:nvPr/>
        </p:nvSpPr>
        <p:spPr>
          <a:xfrm>
            <a:off x="1327150" y="2018603"/>
            <a:ext cx="1660749"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[Into CRM]</a:t>
            </a:r>
          </a:p>
        </p:txBody>
      </p:sp>
      <p:sp>
        <p:nvSpPr>
          <p:cNvPr id="9" name="TextBox 8">
            <a:extLst>
              <a:ext uri="{FF2B5EF4-FFF2-40B4-BE49-F238E27FC236}">
                <a16:creationId xmlns:a16="http://schemas.microsoft.com/office/drawing/2014/main" id="{145F3C85-E2DA-10BE-E13B-B925059A424B}"/>
              </a:ext>
            </a:extLst>
          </p:cNvPr>
          <p:cNvSpPr txBox="1"/>
          <p:nvPr/>
        </p:nvSpPr>
        <p:spPr>
          <a:xfrm>
            <a:off x="1327148" y="2750184"/>
            <a:ext cx="9340849" cy="70788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Customer concerned about [reason]. Account canceled. [Courtesy adjustment of X% issued / No refund issued.] No future billing. Resolved. </a:t>
            </a:r>
          </a:p>
        </p:txBody>
      </p:sp>
      <p:sp>
        <p:nvSpPr>
          <p:cNvPr id="11" name="TextBox 10">
            <a:extLst>
              <a:ext uri="{FF2B5EF4-FFF2-40B4-BE49-F238E27FC236}">
                <a16:creationId xmlns:a16="http://schemas.microsoft.com/office/drawing/2014/main" id="{58194F36-12D6-260D-C8B7-D676C862FB72}"/>
              </a:ext>
            </a:extLst>
          </p:cNvPr>
          <p:cNvSpPr txBox="1"/>
          <p:nvPr/>
        </p:nvSpPr>
        <p:spPr>
          <a:xfrm>
            <a:off x="1327149" y="4247539"/>
            <a:ext cx="9340849" cy="70788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Dialpad AI listens for: noted, I've updated, recorded, documented. Say one of these during the call.</a:t>
            </a:r>
          </a:p>
        </p:txBody>
      </p:sp>
    </p:spTree>
    <p:extLst>
      <p:ext uri="{BB962C8B-B14F-4D97-AF65-F5344CB8AC3E}">
        <p14:creationId xmlns:p14="http://schemas.microsoft.com/office/powerpoint/2010/main" val="51045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210</TotalTime>
  <Words>1938</Words>
  <Application>Microsoft Office PowerPoint</Application>
  <PresentationFormat>Widescreen</PresentationFormat>
  <Paragraphs>142</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Bookman Old Style</vt:lpstr>
      <vt:lpstr>Calibri</vt:lpstr>
      <vt:lpstr>Century Gothic</vt:lpstr>
      <vt:lpstr>Times New Roman</vt:lpstr>
      <vt:lpstr>Wingdings</vt:lpstr>
      <vt:lpstr>Wingdings 3</vt:lpstr>
      <vt:lpstr>Ion</vt:lpstr>
      <vt:lpstr>PowerPoint Presentation</vt:lpstr>
      <vt:lpstr>PowerPoint Presentation</vt:lpstr>
      <vt:lpstr>SECTION 1 — AGENT MINDSET </vt:lpstr>
      <vt:lpstr>PowerPoint Presentation</vt:lpstr>
      <vt:lpstr>PowerPoint Presentation</vt:lpstr>
      <vt:lpstr>SECTION 2 — YOUR KPIs AND WHAT MOVES THEM </vt:lpstr>
      <vt:lpstr>Section 2: KPIs</vt:lpstr>
      <vt:lpstr>PowerPoint Presentation</vt:lpstr>
      <vt:lpstr>PowerPoint Presentation</vt:lpstr>
      <vt:lpstr>Section 3: Call Engine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Norma rae Adriano</dc:creator>
  <cp:lastModifiedBy>Norma rae Adriano</cp:lastModifiedBy>
  <cp:revision>1</cp:revision>
  <dcterms:created xsi:type="dcterms:W3CDTF">2026-04-14T16:25:14Z</dcterms:created>
  <dcterms:modified xsi:type="dcterms:W3CDTF">2026-04-14T19:55:41Z</dcterms:modified>
</cp:coreProperties>
</file>